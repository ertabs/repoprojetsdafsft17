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30"/>
  </p:notesMasterIdLst>
  <p:sldIdLst>
    <p:sldId id="256" r:id="rId2"/>
    <p:sldId id="372" r:id="rId3"/>
    <p:sldId id="373" r:id="rId4"/>
    <p:sldId id="374" r:id="rId5"/>
    <p:sldId id="375" r:id="rId6"/>
    <p:sldId id="376" r:id="rId7"/>
    <p:sldId id="377" r:id="rId8"/>
    <p:sldId id="378" r:id="rId9"/>
    <p:sldId id="381" r:id="rId10"/>
    <p:sldId id="382" r:id="rId11"/>
    <p:sldId id="379" r:id="rId12"/>
    <p:sldId id="384" r:id="rId13"/>
    <p:sldId id="385" r:id="rId14"/>
    <p:sldId id="386" r:id="rId15"/>
    <p:sldId id="387" r:id="rId16"/>
    <p:sldId id="388" r:id="rId17"/>
    <p:sldId id="389" r:id="rId18"/>
    <p:sldId id="390" r:id="rId19"/>
    <p:sldId id="391" r:id="rId20"/>
    <p:sldId id="392" r:id="rId21"/>
    <p:sldId id="393" r:id="rId22"/>
    <p:sldId id="394" r:id="rId23"/>
    <p:sldId id="395" r:id="rId24"/>
    <p:sldId id="396" r:id="rId25"/>
    <p:sldId id="397" r:id="rId26"/>
    <p:sldId id="398" r:id="rId27"/>
    <p:sldId id="399" r:id="rId28"/>
    <p:sldId id="28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23934CB9-E165-EA47-B887-AB4EAA978617}">
          <p14:sldIdLst>
            <p14:sldId id="256"/>
            <p14:sldId id="372"/>
            <p14:sldId id="373"/>
            <p14:sldId id="374"/>
            <p14:sldId id="375"/>
            <p14:sldId id="376"/>
            <p14:sldId id="377"/>
            <p14:sldId id="378"/>
            <p14:sldId id="381"/>
            <p14:sldId id="382"/>
            <p14:sldId id="379"/>
            <p14:sldId id="384"/>
            <p14:sldId id="385"/>
            <p14:sldId id="386"/>
            <p14:sldId id="387"/>
            <p14:sldId id="388"/>
            <p14:sldId id="389"/>
            <p14:sldId id="390"/>
            <p14:sldId id="391"/>
            <p14:sldId id="392"/>
            <p14:sldId id="393"/>
            <p14:sldId id="394"/>
            <p14:sldId id="395"/>
            <p14:sldId id="396"/>
            <p14:sldId id="397"/>
            <p14:sldId id="398"/>
            <p14:sldId id="399"/>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B183"/>
    <a:srgbClr val="EB5900"/>
    <a:srgbClr val="F8F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703"/>
    <p:restoredTop sz="96327"/>
  </p:normalViewPr>
  <p:slideViewPr>
    <p:cSldViewPr snapToGrid="0">
      <p:cViewPr varScale="1">
        <p:scale>
          <a:sx n="109" d="100"/>
          <a:sy n="109" d="100"/>
        </p:scale>
        <p:origin x="192"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8E05D-F793-F44E-9EAC-385611CC87FF}" type="datetimeFigureOut">
              <a:rPr lang="fr-FR" smtClean="0"/>
              <a:t>30/01/2026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9ADF5D-78DA-914D-985F-0A7FEC39F79D}" type="slidenum">
              <a:rPr lang="fr-FR" smtClean="0"/>
              <a:t>‹N°›</a:t>
            </a:fld>
            <a:endParaRPr lang="fr-FR"/>
          </a:p>
        </p:txBody>
      </p:sp>
    </p:spTree>
    <p:extLst>
      <p:ext uri="{BB962C8B-B14F-4D97-AF65-F5344CB8AC3E}">
        <p14:creationId xmlns:p14="http://schemas.microsoft.com/office/powerpoint/2010/main" val="3943850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49ADF5D-78DA-914D-985F-0A7FEC39F79D}" type="slidenum">
              <a:rPr lang="fr-FR" smtClean="0"/>
              <a:t>1</a:t>
            </a:fld>
            <a:endParaRPr lang="fr-FR"/>
          </a:p>
        </p:txBody>
      </p:sp>
    </p:spTree>
    <p:extLst>
      <p:ext uri="{BB962C8B-B14F-4D97-AF65-F5344CB8AC3E}">
        <p14:creationId xmlns:p14="http://schemas.microsoft.com/office/powerpoint/2010/main" val="1041683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5428-9066-3654-D04A-E0DC0C19CEA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9D767B3-1EF1-EF05-634B-604DAB84F00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2035682-B881-C986-52C4-97E12DBE10F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DA7C5D1-EF5E-DAD7-C74A-C421C62F3F06}"/>
              </a:ext>
            </a:extLst>
          </p:cNvPr>
          <p:cNvSpPr>
            <a:spLocks noGrp="1"/>
          </p:cNvSpPr>
          <p:nvPr>
            <p:ph type="sldNum" sz="quarter" idx="5"/>
          </p:nvPr>
        </p:nvSpPr>
        <p:spPr/>
        <p:txBody>
          <a:bodyPr/>
          <a:lstStyle/>
          <a:p>
            <a:fld id="{149ADF5D-78DA-914D-985F-0A7FEC39F79D}" type="slidenum">
              <a:rPr lang="fr-FR" smtClean="0"/>
              <a:t>2</a:t>
            </a:fld>
            <a:endParaRPr lang="fr-FR"/>
          </a:p>
        </p:txBody>
      </p:sp>
    </p:spTree>
    <p:extLst>
      <p:ext uri="{BB962C8B-B14F-4D97-AF65-F5344CB8AC3E}">
        <p14:creationId xmlns:p14="http://schemas.microsoft.com/office/powerpoint/2010/main" val="3424968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20AFB-D766-6261-E142-601D5127CD9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C97C44E-C501-8B0B-76D2-FE8FEEF057C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55FE97E-B68F-DC96-D7AA-CCDE6B1BD77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29652FE-6F06-F537-96E5-E7CF95FA7964}"/>
              </a:ext>
            </a:extLst>
          </p:cNvPr>
          <p:cNvSpPr>
            <a:spLocks noGrp="1"/>
          </p:cNvSpPr>
          <p:nvPr>
            <p:ph type="sldNum" sz="quarter" idx="5"/>
          </p:nvPr>
        </p:nvSpPr>
        <p:spPr/>
        <p:txBody>
          <a:bodyPr/>
          <a:lstStyle/>
          <a:p>
            <a:fld id="{149ADF5D-78DA-914D-985F-0A7FEC39F79D}" type="slidenum">
              <a:rPr lang="fr-FR" smtClean="0"/>
              <a:t>3</a:t>
            </a:fld>
            <a:endParaRPr lang="fr-FR"/>
          </a:p>
        </p:txBody>
      </p:sp>
    </p:spTree>
    <p:extLst>
      <p:ext uri="{BB962C8B-B14F-4D97-AF65-F5344CB8AC3E}">
        <p14:creationId xmlns:p14="http://schemas.microsoft.com/office/powerpoint/2010/main" val="2389181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EE287-AAEE-3518-7078-682D194F57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CA5B7D-5B30-B0B7-D5EF-EA7DECB4069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927C161-55F2-7526-343D-32C51E3BEA8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0F9E279-D58D-1DCA-78F8-E52E1463016F}"/>
              </a:ext>
            </a:extLst>
          </p:cNvPr>
          <p:cNvSpPr>
            <a:spLocks noGrp="1"/>
          </p:cNvSpPr>
          <p:nvPr>
            <p:ph type="sldNum" sz="quarter" idx="5"/>
          </p:nvPr>
        </p:nvSpPr>
        <p:spPr/>
        <p:txBody>
          <a:bodyPr/>
          <a:lstStyle/>
          <a:p>
            <a:fld id="{149ADF5D-78DA-914D-985F-0A7FEC39F79D}" type="slidenum">
              <a:rPr lang="fr-FR" smtClean="0"/>
              <a:t>4</a:t>
            </a:fld>
            <a:endParaRPr lang="fr-FR"/>
          </a:p>
        </p:txBody>
      </p:sp>
    </p:spTree>
    <p:extLst>
      <p:ext uri="{BB962C8B-B14F-4D97-AF65-F5344CB8AC3E}">
        <p14:creationId xmlns:p14="http://schemas.microsoft.com/office/powerpoint/2010/main" val="2384476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92ED5-BA03-8AF2-F4F6-87E56DFC25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3980F2-12B6-1B26-9E8C-551FC1BDE59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382411E-0040-959A-A5A0-A2125731541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94025D4-8898-CD9E-E763-7B52712AEA7B}"/>
              </a:ext>
            </a:extLst>
          </p:cNvPr>
          <p:cNvSpPr>
            <a:spLocks noGrp="1"/>
          </p:cNvSpPr>
          <p:nvPr>
            <p:ph type="sldNum" sz="quarter" idx="5"/>
          </p:nvPr>
        </p:nvSpPr>
        <p:spPr/>
        <p:txBody>
          <a:bodyPr/>
          <a:lstStyle/>
          <a:p>
            <a:fld id="{149ADF5D-78DA-914D-985F-0A7FEC39F79D}" type="slidenum">
              <a:rPr lang="fr-FR" smtClean="0"/>
              <a:t>5</a:t>
            </a:fld>
            <a:endParaRPr lang="fr-FR"/>
          </a:p>
        </p:txBody>
      </p:sp>
    </p:spTree>
    <p:extLst>
      <p:ext uri="{BB962C8B-B14F-4D97-AF65-F5344CB8AC3E}">
        <p14:creationId xmlns:p14="http://schemas.microsoft.com/office/powerpoint/2010/main" val="3309990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2FA5-01CA-2C6C-EE11-8AB232FD540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82EDDE0-C627-66A2-F4A6-5F32E93170F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7E4433A-968B-39E1-91F2-6D16BCCC0D1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C0A795A-1213-EA40-7699-899C10D9BA89}"/>
              </a:ext>
            </a:extLst>
          </p:cNvPr>
          <p:cNvSpPr>
            <a:spLocks noGrp="1"/>
          </p:cNvSpPr>
          <p:nvPr>
            <p:ph type="sldNum" sz="quarter" idx="5"/>
          </p:nvPr>
        </p:nvSpPr>
        <p:spPr/>
        <p:txBody>
          <a:bodyPr/>
          <a:lstStyle/>
          <a:p>
            <a:fld id="{149ADF5D-78DA-914D-985F-0A7FEC39F79D}" type="slidenum">
              <a:rPr lang="fr-FR" smtClean="0"/>
              <a:t>6</a:t>
            </a:fld>
            <a:endParaRPr lang="fr-FR"/>
          </a:p>
        </p:txBody>
      </p:sp>
    </p:spTree>
    <p:extLst>
      <p:ext uri="{BB962C8B-B14F-4D97-AF65-F5344CB8AC3E}">
        <p14:creationId xmlns:p14="http://schemas.microsoft.com/office/powerpoint/2010/main" val="1986288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93C3E-D99F-9003-1178-50541090B8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CD796B-AF10-BFB8-DB99-1ACCE343355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A0247C3-18CC-C409-0A99-35D29CA159C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A0A2DC3-7F17-733E-C4B9-B7F32F722C71}"/>
              </a:ext>
            </a:extLst>
          </p:cNvPr>
          <p:cNvSpPr>
            <a:spLocks noGrp="1"/>
          </p:cNvSpPr>
          <p:nvPr>
            <p:ph type="sldNum" sz="quarter" idx="5"/>
          </p:nvPr>
        </p:nvSpPr>
        <p:spPr/>
        <p:txBody>
          <a:bodyPr/>
          <a:lstStyle/>
          <a:p>
            <a:fld id="{149ADF5D-78DA-914D-985F-0A7FEC39F79D}" type="slidenum">
              <a:rPr lang="fr-FR" smtClean="0"/>
              <a:t>7</a:t>
            </a:fld>
            <a:endParaRPr lang="fr-FR"/>
          </a:p>
        </p:txBody>
      </p:sp>
    </p:spTree>
    <p:extLst>
      <p:ext uri="{BB962C8B-B14F-4D97-AF65-F5344CB8AC3E}">
        <p14:creationId xmlns:p14="http://schemas.microsoft.com/office/powerpoint/2010/main" val="3491802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05AF1-10D4-5319-B57E-7C196F0697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15D11B-63AB-5BEF-4820-403B16FB5D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B745B4D-5203-314E-019D-CC5DF7DFA31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CBCDDE1-C9F6-2835-63E4-43FAB17835E8}"/>
              </a:ext>
            </a:extLst>
          </p:cNvPr>
          <p:cNvSpPr>
            <a:spLocks noGrp="1"/>
          </p:cNvSpPr>
          <p:nvPr>
            <p:ph type="sldNum" sz="quarter" idx="5"/>
          </p:nvPr>
        </p:nvSpPr>
        <p:spPr/>
        <p:txBody>
          <a:bodyPr/>
          <a:lstStyle/>
          <a:p>
            <a:fld id="{149ADF5D-78DA-914D-985F-0A7FEC39F79D}" type="slidenum">
              <a:rPr lang="fr-FR" smtClean="0"/>
              <a:t>8</a:t>
            </a:fld>
            <a:endParaRPr lang="fr-FR"/>
          </a:p>
        </p:txBody>
      </p:sp>
    </p:spTree>
    <p:extLst>
      <p:ext uri="{BB962C8B-B14F-4D97-AF65-F5344CB8AC3E}">
        <p14:creationId xmlns:p14="http://schemas.microsoft.com/office/powerpoint/2010/main" val="2845740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33BA7-4B08-93CE-A61E-DCB2485825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11760F-A64F-9804-7408-7143643ACF8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DE6631A-9D4A-25D5-0230-42E7CB5866F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090CA21-96B2-2C2B-BF4C-82F124453E68}"/>
              </a:ext>
            </a:extLst>
          </p:cNvPr>
          <p:cNvSpPr>
            <a:spLocks noGrp="1"/>
          </p:cNvSpPr>
          <p:nvPr>
            <p:ph type="sldNum" sz="quarter" idx="5"/>
          </p:nvPr>
        </p:nvSpPr>
        <p:spPr/>
        <p:txBody>
          <a:bodyPr/>
          <a:lstStyle/>
          <a:p>
            <a:fld id="{149ADF5D-78DA-914D-985F-0A7FEC39F79D}" type="slidenum">
              <a:rPr lang="fr-FR" smtClean="0"/>
              <a:t>9</a:t>
            </a:fld>
            <a:endParaRPr lang="fr-FR"/>
          </a:p>
        </p:txBody>
      </p:sp>
    </p:spTree>
    <p:extLst>
      <p:ext uri="{BB962C8B-B14F-4D97-AF65-F5344CB8AC3E}">
        <p14:creationId xmlns:p14="http://schemas.microsoft.com/office/powerpoint/2010/main" val="2598752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F3150-9A2B-AD74-8228-D517C114D1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E7DBD78-4BAB-92A1-6C8A-FB2D8AB90EB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EE9E9FA-6899-70C6-849D-5537B5630A6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F371B49-1229-9382-7B2F-2DAD324F2E52}"/>
              </a:ext>
            </a:extLst>
          </p:cNvPr>
          <p:cNvSpPr>
            <a:spLocks noGrp="1"/>
          </p:cNvSpPr>
          <p:nvPr>
            <p:ph type="sldNum" sz="quarter" idx="5"/>
          </p:nvPr>
        </p:nvSpPr>
        <p:spPr/>
        <p:txBody>
          <a:bodyPr/>
          <a:lstStyle/>
          <a:p>
            <a:fld id="{149ADF5D-78DA-914D-985F-0A7FEC39F79D}" type="slidenum">
              <a:rPr lang="fr-FR" smtClean="0"/>
              <a:t>10</a:t>
            </a:fld>
            <a:endParaRPr lang="fr-FR"/>
          </a:p>
        </p:txBody>
      </p:sp>
    </p:spTree>
    <p:extLst>
      <p:ext uri="{BB962C8B-B14F-4D97-AF65-F5344CB8AC3E}">
        <p14:creationId xmlns:p14="http://schemas.microsoft.com/office/powerpoint/2010/main" val="3469879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E1555-EDFE-45BE-75D8-39CF2D0DA6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616679-EFBF-D39B-29F2-57185A043AC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F383091-A872-F0A9-F33C-D4A36677A86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B6F0085-9A51-6181-C057-A90F4D1855A3}"/>
              </a:ext>
            </a:extLst>
          </p:cNvPr>
          <p:cNvSpPr>
            <a:spLocks noGrp="1"/>
          </p:cNvSpPr>
          <p:nvPr>
            <p:ph type="sldNum" sz="quarter" idx="5"/>
          </p:nvPr>
        </p:nvSpPr>
        <p:spPr/>
        <p:txBody>
          <a:bodyPr/>
          <a:lstStyle/>
          <a:p>
            <a:fld id="{149ADF5D-78DA-914D-985F-0A7FEC39F79D}" type="slidenum">
              <a:rPr lang="fr-FR" smtClean="0"/>
              <a:t>11</a:t>
            </a:fld>
            <a:endParaRPr lang="fr-FR"/>
          </a:p>
        </p:txBody>
      </p:sp>
    </p:spTree>
    <p:extLst>
      <p:ext uri="{BB962C8B-B14F-4D97-AF65-F5344CB8AC3E}">
        <p14:creationId xmlns:p14="http://schemas.microsoft.com/office/powerpoint/2010/main" val="3972143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14D73-9628-53FF-E639-34D4D7D232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7319C2-AFF3-6D61-A11B-F041031497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9D85AF3-6D5F-732A-7576-9ED93920239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CF8F1B7-A335-BB06-5635-D78B9C27522E}"/>
              </a:ext>
            </a:extLst>
          </p:cNvPr>
          <p:cNvSpPr>
            <a:spLocks noGrp="1"/>
          </p:cNvSpPr>
          <p:nvPr>
            <p:ph type="sldNum" sz="quarter" idx="5"/>
          </p:nvPr>
        </p:nvSpPr>
        <p:spPr/>
        <p:txBody>
          <a:bodyPr/>
          <a:lstStyle/>
          <a:p>
            <a:fld id="{149ADF5D-78DA-914D-985F-0A7FEC39F79D}" type="slidenum">
              <a:rPr lang="fr-FR" smtClean="0"/>
              <a:t>12</a:t>
            </a:fld>
            <a:endParaRPr lang="fr-FR"/>
          </a:p>
        </p:txBody>
      </p:sp>
    </p:spTree>
    <p:extLst>
      <p:ext uri="{BB962C8B-B14F-4D97-AF65-F5344CB8AC3E}">
        <p14:creationId xmlns:p14="http://schemas.microsoft.com/office/powerpoint/2010/main" val="2838154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DF227-1DF3-B198-B508-5D176576C8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27813FC-649E-833B-86C6-1ECADF0703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80CE98-9AAC-011F-9CE0-E6511915725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F3A4920-6D54-3BD6-B917-FAB86ADB84B8}"/>
              </a:ext>
            </a:extLst>
          </p:cNvPr>
          <p:cNvSpPr>
            <a:spLocks noGrp="1"/>
          </p:cNvSpPr>
          <p:nvPr>
            <p:ph type="sldNum" sz="quarter" idx="5"/>
          </p:nvPr>
        </p:nvSpPr>
        <p:spPr/>
        <p:txBody>
          <a:bodyPr/>
          <a:lstStyle/>
          <a:p>
            <a:fld id="{149ADF5D-78DA-914D-985F-0A7FEC39F79D}" type="slidenum">
              <a:rPr lang="fr-FR" smtClean="0"/>
              <a:t>13</a:t>
            </a:fld>
            <a:endParaRPr lang="fr-FR"/>
          </a:p>
        </p:txBody>
      </p:sp>
    </p:spTree>
    <p:extLst>
      <p:ext uri="{BB962C8B-B14F-4D97-AF65-F5344CB8AC3E}">
        <p14:creationId xmlns:p14="http://schemas.microsoft.com/office/powerpoint/2010/main" val="619516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D109D-622F-491B-5601-C9011556593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2DD14F-FB18-6FAE-1334-D8F27B1C8FA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8D1BE17-F61D-01E1-4917-5BEAE270866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61C04F0-9DA2-ADF0-5859-FBC7884970BC}"/>
              </a:ext>
            </a:extLst>
          </p:cNvPr>
          <p:cNvSpPr>
            <a:spLocks noGrp="1"/>
          </p:cNvSpPr>
          <p:nvPr>
            <p:ph type="sldNum" sz="quarter" idx="5"/>
          </p:nvPr>
        </p:nvSpPr>
        <p:spPr/>
        <p:txBody>
          <a:bodyPr/>
          <a:lstStyle/>
          <a:p>
            <a:fld id="{149ADF5D-78DA-914D-985F-0A7FEC39F79D}" type="slidenum">
              <a:rPr lang="fr-FR" smtClean="0"/>
              <a:t>14</a:t>
            </a:fld>
            <a:endParaRPr lang="fr-FR"/>
          </a:p>
        </p:txBody>
      </p:sp>
    </p:spTree>
    <p:extLst>
      <p:ext uri="{BB962C8B-B14F-4D97-AF65-F5344CB8AC3E}">
        <p14:creationId xmlns:p14="http://schemas.microsoft.com/office/powerpoint/2010/main" val="2784031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8D3BB-4BB4-7469-16A7-FCB7050E7A8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58236D-6B99-88B8-E88E-07D3F0F5014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61B0B69-F14B-6635-FC08-3593B4AA31A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AE25E32-AD69-CCE4-8F8D-6FD34B2BEF53}"/>
              </a:ext>
            </a:extLst>
          </p:cNvPr>
          <p:cNvSpPr>
            <a:spLocks noGrp="1"/>
          </p:cNvSpPr>
          <p:nvPr>
            <p:ph type="sldNum" sz="quarter" idx="5"/>
          </p:nvPr>
        </p:nvSpPr>
        <p:spPr/>
        <p:txBody>
          <a:bodyPr/>
          <a:lstStyle/>
          <a:p>
            <a:fld id="{149ADF5D-78DA-914D-985F-0A7FEC39F79D}" type="slidenum">
              <a:rPr lang="fr-FR" smtClean="0"/>
              <a:t>15</a:t>
            </a:fld>
            <a:endParaRPr lang="fr-FR"/>
          </a:p>
        </p:txBody>
      </p:sp>
    </p:spTree>
    <p:extLst>
      <p:ext uri="{BB962C8B-B14F-4D97-AF65-F5344CB8AC3E}">
        <p14:creationId xmlns:p14="http://schemas.microsoft.com/office/powerpoint/2010/main" val="1508783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E3097-21C4-4188-611C-3C4370655B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46153D-CE12-3414-736E-EA1B6C28532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D151213-441A-EAB5-619B-D7A0E1BA14C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0D9E680-A1DC-2D23-FBC9-80096B77B0D0}"/>
              </a:ext>
            </a:extLst>
          </p:cNvPr>
          <p:cNvSpPr>
            <a:spLocks noGrp="1"/>
          </p:cNvSpPr>
          <p:nvPr>
            <p:ph type="sldNum" sz="quarter" idx="5"/>
          </p:nvPr>
        </p:nvSpPr>
        <p:spPr/>
        <p:txBody>
          <a:bodyPr/>
          <a:lstStyle/>
          <a:p>
            <a:fld id="{149ADF5D-78DA-914D-985F-0A7FEC39F79D}" type="slidenum">
              <a:rPr lang="fr-FR" smtClean="0"/>
              <a:t>16</a:t>
            </a:fld>
            <a:endParaRPr lang="fr-FR"/>
          </a:p>
        </p:txBody>
      </p:sp>
    </p:spTree>
    <p:extLst>
      <p:ext uri="{BB962C8B-B14F-4D97-AF65-F5344CB8AC3E}">
        <p14:creationId xmlns:p14="http://schemas.microsoft.com/office/powerpoint/2010/main" val="13365716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C36F7-9C3D-5F15-922B-1BC7C20A30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748C215-9FE0-C165-9CF5-35116C95EE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7A920DB-61FD-9FDF-0D4F-B8431EEC15C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AD766B1-BAA2-57FB-F79E-0F46CDB20B18}"/>
              </a:ext>
            </a:extLst>
          </p:cNvPr>
          <p:cNvSpPr>
            <a:spLocks noGrp="1"/>
          </p:cNvSpPr>
          <p:nvPr>
            <p:ph type="sldNum" sz="quarter" idx="5"/>
          </p:nvPr>
        </p:nvSpPr>
        <p:spPr/>
        <p:txBody>
          <a:bodyPr/>
          <a:lstStyle/>
          <a:p>
            <a:fld id="{149ADF5D-78DA-914D-985F-0A7FEC39F79D}" type="slidenum">
              <a:rPr lang="fr-FR" smtClean="0"/>
              <a:t>17</a:t>
            </a:fld>
            <a:endParaRPr lang="fr-FR"/>
          </a:p>
        </p:txBody>
      </p:sp>
    </p:spTree>
    <p:extLst>
      <p:ext uri="{BB962C8B-B14F-4D97-AF65-F5344CB8AC3E}">
        <p14:creationId xmlns:p14="http://schemas.microsoft.com/office/powerpoint/2010/main" val="10792753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6267C-26D8-916A-6069-8DEB8F3095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975412-43D6-EF2E-D01D-40E8E52EFE2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C89FC4-4B85-0C56-9E36-FCCECF3FC91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F7D4585-FBD2-1426-40D5-E381D59FCFBF}"/>
              </a:ext>
            </a:extLst>
          </p:cNvPr>
          <p:cNvSpPr>
            <a:spLocks noGrp="1"/>
          </p:cNvSpPr>
          <p:nvPr>
            <p:ph type="sldNum" sz="quarter" idx="5"/>
          </p:nvPr>
        </p:nvSpPr>
        <p:spPr/>
        <p:txBody>
          <a:bodyPr/>
          <a:lstStyle/>
          <a:p>
            <a:fld id="{149ADF5D-78DA-914D-985F-0A7FEC39F79D}" type="slidenum">
              <a:rPr lang="fr-FR" smtClean="0"/>
              <a:t>18</a:t>
            </a:fld>
            <a:endParaRPr lang="fr-FR"/>
          </a:p>
        </p:txBody>
      </p:sp>
    </p:spTree>
    <p:extLst>
      <p:ext uri="{BB962C8B-B14F-4D97-AF65-F5344CB8AC3E}">
        <p14:creationId xmlns:p14="http://schemas.microsoft.com/office/powerpoint/2010/main" val="3119224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E96C-5C8B-9B76-7EB9-4B14ACC81C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EDF150B-3356-D91F-E863-DEC48E4CA7F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284A2EC-DEF1-94C5-49D3-9CFACB64848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75752D5-485F-CE17-6ADE-4C979100C8FC}"/>
              </a:ext>
            </a:extLst>
          </p:cNvPr>
          <p:cNvSpPr>
            <a:spLocks noGrp="1"/>
          </p:cNvSpPr>
          <p:nvPr>
            <p:ph type="sldNum" sz="quarter" idx="5"/>
          </p:nvPr>
        </p:nvSpPr>
        <p:spPr/>
        <p:txBody>
          <a:bodyPr/>
          <a:lstStyle/>
          <a:p>
            <a:fld id="{149ADF5D-78DA-914D-985F-0A7FEC39F79D}" type="slidenum">
              <a:rPr lang="fr-FR" smtClean="0"/>
              <a:t>19</a:t>
            </a:fld>
            <a:endParaRPr lang="fr-FR"/>
          </a:p>
        </p:txBody>
      </p:sp>
    </p:spTree>
    <p:extLst>
      <p:ext uri="{BB962C8B-B14F-4D97-AF65-F5344CB8AC3E}">
        <p14:creationId xmlns:p14="http://schemas.microsoft.com/office/powerpoint/2010/main" val="6773113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0E7C-8303-E59B-01E4-087D64F061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DD097CE-2DF7-CBE6-814B-AEB5DEC980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0D1D382-BD10-AA49-B4B4-7CD35FBCD97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A4C03DF-80F1-9941-C70A-25543FC6B14C}"/>
              </a:ext>
            </a:extLst>
          </p:cNvPr>
          <p:cNvSpPr>
            <a:spLocks noGrp="1"/>
          </p:cNvSpPr>
          <p:nvPr>
            <p:ph type="sldNum" sz="quarter" idx="5"/>
          </p:nvPr>
        </p:nvSpPr>
        <p:spPr/>
        <p:txBody>
          <a:bodyPr/>
          <a:lstStyle/>
          <a:p>
            <a:fld id="{149ADF5D-78DA-914D-985F-0A7FEC39F79D}" type="slidenum">
              <a:rPr lang="fr-FR" smtClean="0"/>
              <a:t>20</a:t>
            </a:fld>
            <a:endParaRPr lang="fr-FR"/>
          </a:p>
        </p:txBody>
      </p:sp>
    </p:spTree>
    <p:extLst>
      <p:ext uri="{BB962C8B-B14F-4D97-AF65-F5344CB8AC3E}">
        <p14:creationId xmlns:p14="http://schemas.microsoft.com/office/powerpoint/2010/main" val="4331226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6C443-A8AD-37E8-46D0-EAC91FA0A62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B24709-2F64-56A2-9496-344B004169B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6BEB135-0B13-53A6-0BE1-EC7A258B500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D95EADD-4BA0-843B-FBF0-94D13E0C3EA2}"/>
              </a:ext>
            </a:extLst>
          </p:cNvPr>
          <p:cNvSpPr>
            <a:spLocks noGrp="1"/>
          </p:cNvSpPr>
          <p:nvPr>
            <p:ph type="sldNum" sz="quarter" idx="5"/>
          </p:nvPr>
        </p:nvSpPr>
        <p:spPr/>
        <p:txBody>
          <a:bodyPr/>
          <a:lstStyle/>
          <a:p>
            <a:fld id="{149ADF5D-78DA-914D-985F-0A7FEC39F79D}" type="slidenum">
              <a:rPr lang="fr-FR" smtClean="0"/>
              <a:t>21</a:t>
            </a:fld>
            <a:endParaRPr lang="fr-FR"/>
          </a:p>
        </p:txBody>
      </p:sp>
    </p:spTree>
    <p:extLst>
      <p:ext uri="{BB962C8B-B14F-4D97-AF65-F5344CB8AC3E}">
        <p14:creationId xmlns:p14="http://schemas.microsoft.com/office/powerpoint/2010/main" val="3235943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A304D-4968-2EAC-1A38-1EFA59BD59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4E1C8F-4475-14A5-5D8B-50ECAE8E92C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C38A7A1-7575-63BC-7F4A-C86A20C875B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9489915-EFB9-C86D-AF6B-8A04BC19803E}"/>
              </a:ext>
            </a:extLst>
          </p:cNvPr>
          <p:cNvSpPr>
            <a:spLocks noGrp="1"/>
          </p:cNvSpPr>
          <p:nvPr>
            <p:ph type="sldNum" sz="quarter" idx="5"/>
          </p:nvPr>
        </p:nvSpPr>
        <p:spPr/>
        <p:txBody>
          <a:bodyPr/>
          <a:lstStyle/>
          <a:p>
            <a:fld id="{149ADF5D-78DA-914D-985F-0A7FEC39F79D}" type="slidenum">
              <a:rPr lang="fr-FR" smtClean="0"/>
              <a:t>22</a:t>
            </a:fld>
            <a:endParaRPr lang="fr-FR"/>
          </a:p>
        </p:txBody>
      </p:sp>
    </p:spTree>
    <p:extLst>
      <p:ext uri="{BB962C8B-B14F-4D97-AF65-F5344CB8AC3E}">
        <p14:creationId xmlns:p14="http://schemas.microsoft.com/office/powerpoint/2010/main" val="790863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A94F1-28B5-D88A-3062-401184D516E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5144B7-3BB9-698A-9CA5-9FD49305B86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D8D8407-EF1F-A9C3-7350-D7AAAE4B9BF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1C85899-2B9C-4924-E6B8-8C20556C1882}"/>
              </a:ext>
            </a:extLst>
          </p:cNvPr>
          <p:cNvSpPr>
            <a:spLocks noGrp="1"/>
          </p:cNvSpPr>
          <p:nvPr>
            <p:ph type="sldNum" sz="quarter" idx="5"/>
          </p:nvPr>
        </p:nvSpPr>
        <p:spPr/>
        <p:txBody>
          <a:bodyPr/>
          <a:lstStyle/>
          <a:p>
            <a:fld id="{149ADF5D-78DA-914D-985F-0A7FEC39F79D}" type="slidenum">
              <a:rPr lang="fr-FR" smtClean="0"/>
              <a:t>23</a:t>
            </a:fld>
            <a:endParaRPr lang="fr-FR"/>
          </a:p>
        </p:txBody>
      </p:sp>
    </p:spTree>
    <p:extLst>
      <p:ext uri="{BB962C8B-B14F-4D97-AF65-F5344CB8AC3E}">
        <p14:creationId xmlns:p14="http://schemas.microsoft.com/office/powerpoint/2010/main" val="32251989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EB981-B729-0A5C-7978-F72988E70E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0849FD1-38C7-BE49-E413-2E886A813B1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F53DCE3-CECB-301A-1C5F-B4EEFB46449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E07931B-14C2-CB50-C00F-6F51DA370583}"/>
              </a:ext>
            </a:extLst>
          </p:cNvPr>
          <p:cNvSpPr>
            <a:spLocks noGrp="1"/>
          </p:cNvSpPr>
          <p:nvPr>
            <p:ph type="sldNum" sz="quarter" idx="5"/>
          </p:nvPr>
        </p:nvSpPr>
        <p:spPr/>
        <p:txBody>
          <a:bodyPr/>
          <a:lstStyle/>
          <a:p>
            <a:fld id="{149ADF5D-78DA-914D-985F-0A7FEC39F79D}" type="slidenum">
              <a:rPr lang="fr-FR" smtClean="0"/>
              <a:t>24</a:t>
            </a:fld>
            <a:endParaRPr lang="fr-FR"/>
          </a:p>
        </p:txBody>
      </p:sp>
    </p:spTree>
    <p:extLst>
      <p:ext uri="{BB962C8B-B14F-4D97-AF65-F5344CB8AC3E}">
        <p14:creationId xmlns:p14="http://schemas.microsoft.com/office/powerpoint/2010/main" val="1251473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CF03C-D3DC-C089-634A-B185A76B7D0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8D469B4-6635-F50B-483B-A34F5758EA3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550C448-5169-7B5C-A97C-4F28D144F34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16A6A86-E557-F215-951A-8BDFEC664EC1}"/>
              </a:ext>
            </a:extLst>
          </p:cNvPr>
          <p:cNvSpPr>
            <a:spLocks noGrp="1"/>
          </p:cNvSpPr>
          <p:nvPr>
            <p:ph type="sldNum" sz="quarter" idx="5"/>
          </p:nvPr>
        </p:nvSpPr>
        <p:spPr/>
        <p:txBody>
          <a:bodyPr/>
          <a:lstStyle/>
          <a:p>
            <a:fld id="{149ADF5D-78DA-914D-985F-0A7FEC39F79D}" type="slidenum">
              <a:rPr lang="fr-FR" smtClean="0"/>
              <a:t>25</a:t>
            </a:fld>
            <a:endParaRPr lang="fr-FR"/>
          </a:p>
        </p:txBody>
      </p:sp>
    </p:spTree>
    <p:extLst>
      <p:ext uri="{BB962C8B-B14F-4D97-AF65-F5344CB8AC3E}">
        <p14:creationId xmlns:p14="http://schemas.microsoft.com/office/powerpoint/2010/main" val="1540277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681F1-BC72-0A1D-9102-69AB30EAD30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806BF7-3D3D-C8F2-4FA1-40A08700FB1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55DC0F2-B13D-ACFC-BD7B-378D454FE1E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5D3ACAC-4695-4C7D-708C-335B22D26C33}"/>
              </a:ext>
            </a:extLst>
          </p:cNvPr>
          <p:cNvSpPr>
            <a:spLocks noGrp="1"/>
          </p:cNvSpPr>
          <p:nvPr>
            <p:ph type="sldNum" sz="quarter" idx="5"/>
          </p:nvPr>
        </p:nvSpPr>
        <p:spPr/>
        <p:txBody>
          <a:bodyPr/>
          <a:lstStyle/>
          <a:p>
            <a:fld id="{149ADF5D-78DA-914D-985F-0A7FEC39F79D}" type="slidenum">
              <a:rPr lang="fr-FR" smtClean="0"/>
              <a:t>26</a:t>
            </a:fld>
            <a:endParaRPr lang="fr-FR"/>
          </a:p>
        </p:txBody>
      </p:sp>
    </p:spTree>
    <p:extLst>
      <p:ext uri="{BB962C8B-B14F-4D97-AF65-F5344CB8AC3E}">
        <p14:creationId xmlns:p14="http://schemas.microsoft.com/office/powerpoint/2010/main" val="13360060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BA95A-E2BB-06EE-AF14-F745BDEE5FA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64919E-4367-14FD-95F3-F01E1F3F3DB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622C890-E3A8-0174-C227-FCBC463C371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56AAC77-F833-7D1E-8A63-536884E6355D}"/>
              </a:ext>
            </a:extLst>
          </p:cNvPr>
          <p:cNvSpPr>
            <a:spLocks noGrp="1"/>
          </p:cNvSpPr>
          <p:nvPr>
            <p:ph type="sldNum" sz="quarter" idx="5"/>
          </p:nvPr>
        </p:nvSpPr>
        <p:spPr/>
        <p:txBody>
          <a:bodyPr/>
          <a:lstStyle/>
          <a:p>
            <a:fld id="{149ADF5D-78DA-914D-985F-0A7FEC39F79D}" type="slidenum">
              <a:rPr lang="fr-FR" smtClean="0"/>
              <a:t>27</a:t>
            </a:fld>
            <a:endParaRPr lang="fr-FR"/>
          </a:p>
        </p:txBody>
      </p:sp>
    </p:spTree>
    <p:extLst>
      <p:ext uri="{BB962C8B-B14F-4D97-AF65-F5344CB8AC3E}">
        <p14:creationId xmlns:p14="http://schemas.microsoft.com/office/powerpoint/2010/main" val="384050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9DF30A0F-530E-3346-8CAA-4B304B975C37}" type="datetimeFigureOut">
              <a:rPr lang="fr-FR" smtClean="0"/>
              <a:t>30/01/2026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1540228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DF30A0F-530E-3346-8CAA-4B304B975C37}" type="datetimeFigureOut">
              <a:rPr lang="fr-FR" smtClean="0"/>
              <a:t>30/01/2026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4194724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DF30A0F-530E-3346-8CAA-4B304B975C37}" type="datetimeFigureOut">
              <a:rPr lang="fr-FR" smtClean="0"/>
              <a:t>30/01/2026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1867459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DF30A0F-530E-3346-8CAA-4B304B975C37}" type="datetimeFigureOut">
              <a:rPr lang="fr-FR" smtClean="0"/>
              <a:t>30/01/2026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206195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DF30A0F-530E-3346-8CAA-4B304B975C37}" type="datetimeFigureOut">
              <a:rPr lang="fr-FR" smtClean="0"/>
              <a:t>30/01/2026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4209002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DF30A0F-530E-3346-8CAA-4B304B975C37}" type="datetimeFigureOut">
              <a:rPr lang="fr-FR" smtClean="0"/>
              <a:t>30/01/2026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3040903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F30A0F-530E-3346-8CAA-4B304B975C37}" type="datetimeFigureOut">
              <a:rPr lang="fr-FR" smtClean="0"/>
              <a:t>30/01/2026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2400930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DF30A0F-530E-3346-8CAA-4B304B975C37}" type="datetimeFigureOut">
              <a:rPr lang="fr-FR" smtClean="0"/>
              <a:t>30/01/2026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22743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DF30A0F-530E-3346-8CAA-4B304B975C37}" type="datetimeFigureOut">
              <a:rPr lang="fr-FR" smtClean="0"/>
              <a:t>30/01/2026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3908678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DF30A0F-530E-3346-8CAA-4B304B975C37}" type="datetimeFigureOut">
              <a:rPr lang="fr-FR" smtClean="0"/>
              <a:t>30/01/2026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796769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DF30A0F-530E-3346-8CAA-4B304B975C37}" type="datetimeFigureOut">
              <a:rPr lang="fr-FR" smtClean="0"/>
              <a:t>30/01/2026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B7A55ED-C1BF-274D-BDD0-44FCE8824316}" type="slidenum">
              <a:rPr lang="fr-FR" smtClean="0"/>
              <a:t>‹N°›</a:t>
            </a:fld>
            <a:endParaRPr lang="fr-FR"/>
          </a:p>
        </p:txBody>
      </p:sp>
    </p:spTree>
    <p:extLst>
      <p:ext uri="{BB962C8B-B14F-4D97-AF65-F5344CB8AC3E}">
        <p14:creationId xmlns:p14="http://schemas.microsoft.com/office/powerpoint/2010/main" val="583229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2000" b="-12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F30A0F-530E-3346-8CAA-4B304B975C37}" type="datetimeFigureOut">
              <a:rPr lang="fr-FR" smtClean="0"/>
              <a:t>30/01/2026</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7A55ED-C1BF-274D-BDD0-44FCE8824316}" type="slidenum">
              <a:rPr lang="fr-FR" smtClean="0"/>
              <a:t>‹N°›</a:t>
            </a:fld>
            <a:endParaRPr lang="fr-FR"/>
          </a:p>
        </p:txBody>
      </p:sp>
    </p:spTree>
    <p:extLst>
      <p:ext uri="{BB962C8B-B14F-4D97-AF65-F5344CB8AC3E}">
        <p14:creationId xmlns:p14="http://schemas.microsoft.com/office/powerpoint/2010/main" val="291781265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pp.jedha.co/certifications/rncp35288bc03"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julie-resources.s3.eu-west-3.amazonaws.com/analysis-fullstack-fulltime-v2/machine-learning-projects-dafs/walmart-predict-weekly-sales-dafs/Walmart_Store_sales.csv"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scikit-learn.org/stable/modules/generated/sklearn.linear_model.LinearRegression.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hyperlink" Target="https://scikit-learn.org/stable/modules/generated/sklearn.linear_model.Ridge.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scikit-learn.org/stable/modules/generated/sklearn.linear_model.Lasso.ht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scikit-learn.org/stable/modules/generated/sklearn.model_selection.GridSearchCV.ht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alfurka.github.io/2018-11-18-grid-search/"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datascienceweekly.org/"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julie-resources.s3.eu-west-3.amazonaws.com/analysis-fullstack-fulltime-v2/machine-learning-projects-dafs/conversion-rate-prediction-dafs/01-Conversion_rate_challenge_template.ipynb"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julie-resources.s3.eu-west-3.amazonaws.com/analysis-fullstack-fulltime-v2/machine-learning-projects-dafs/conversion-rate-prediction-dafs/conversion_data_train.csv" TargetMode="External"/><Relationship Id="rId4" Type="http://schemas.openxmlformats.org/officeDocument/2006/relationships/hyperlink" Target="https://julie-resources.s3.eu-west-3.amazonaws.com/analysis-fullstack-fulltime-v2/machine-learning-projects-dafs/conversion-rate-prediction-dafs/conversion_data_test.csv"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full-stack-bigdata-datasets.s3.eu-west-3.amazonaws.com/Machine+Learning+non+Supervis&#233;/Projects/uber-trip-data.zip"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hyperlink" Target="https://plotly.com/"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B58C0D-7EE8-6F6B-BE52-9FA5FB7C3193}"/>
              </a:ext>
            </a:extLst>
          </p:cNvPr>
          <p:cNvSpPr>
            <a:spLocks noGrp="1"/>
          </p:cNvSpPr>
          <p:nvPr>
            <p:ph type="ctrTitle"/>
          </p:nvPr>
        </p:nvSpPr>
        <p:spPr>
          <a:xfrm>
            <a:off x="2667000" y="747542"/>
            <a:ext cx="6858000" cy="2002972"/>
          </a:xfrm>
        </p:spPr>
        <p:txBody>
          <a:bodyPr>
            <a:noAutofit/>
          </a:bodyPr>
          <a:lstStyle/>
          <a:p>
            <a:r>
              <a:rPr lang="fr-FR" sz="7200" b="1" dirty="0">
                <a:solidFill>
                  <a:schemeClr val="bg1"/>
                </a:solidFill>
                <a:latin typeface="PT Sans Caption" panose="020B0603020203020204" pitchFamily="34" charset="77"/>
                <a:cs typeface="Dubai" panose="020B0503030403030204" pitchFamily="34" charset="-78"/>
              </a:rPr>
              <a:t>Data </a:t>
            </a:r>
            <a:r>
              <a:rPr lang="fr-FR" sz="7200" b="1" dirty="0" err="1">
                <a:solidFill>
                  <a:schemeClr val="bg1"/>
                </a:solidFill>
                <a:latin typeface="PT Sans Caption" panose="020B0603020203020204" pitchFamily="34" charset="77"/>
                <a:cs typeface="Dubai" panose="020B0503030403030204" pitchFamily="34" charset="-78"/>
              </a:rPr>
              <a:t>Analysis</a:t>
            </a:r>
            <a:r>
              <a:rPr lang="fr-FR" sz="7200" b="1" dirty="0">
                <a:solidFill>
                  <a:schemeClr val="bg1"/>
                </a:solidFill>
                <a:latin typeface="PT Sans Caption" panose="020B0603020203020204" pitchFamily="34" charset="77"/>
                <a:cs typeface="Dubai" panose="020B0503030403030204" pitchFamily="34" charset="-78"/>
              </a:rPr>
              <a:t> Full Stack</a:t>
            </a:r>
          </a:p>
        </p:txBody>
      </p:sp>
      <p:sp>
        <p:nvSpPr>
          <p:cNvPr id="3" name="Sous-titre 2">
            <a:extLst>
              <a:ext uri="{FF2B5EF4-FFF2-40B4-BE49-F238E27FC236}">
                <a16:creationId xmlns:a16="http://schemas.microsoft.com/office/drawing/2014/main" id="{51BB7D8C-2A88-5A5B-F027-337ECE3166DC}"/>
              </a:ext>
            </a:extLst>
          </p:cNvPr>
          <p:cNvSpPr>
            <a:spLocks noGrp="1"/>
          </p:cNvSpPr>
          <p:nvPr>
            <p:ph type="subTitle" idx="1"/>
          </p:nvPr>
        </p:nvSpPr>
        <p:spPr>
          <a:xfrm>
            <a:off x="1138687" y="3533725"/>
            <a:ext cx="10041147" cy="1642123"/>
          </a:xfrm>
        </p:spPr>
        <p:txBody>
          <a:bodyPr>
            <a:normAutofit fontScale="92500" lnSpcReduction="10000"/>
          </a:bodyPr>
          <a:lstStyle/>
          <a:p>
            <a:r>
              <a:rPr lang="fr-FR" sz="3600" dirty="0">
                <a:solidFill>
                  <a:schemeClr val="bg1"/>
                </a:solidFill>
                <a:latin typeface="PT Sans Caption" panose="020B0603020203020204" pitchFamily="34" charset="77"/>
                <a:cs typeface="Calibri" panose="020F0502020204030204" pitchFamily="34" charset="0"/>
              </a:rPr>
              <a:t>Module 4 - Machine Learning</a:t>
            </a:r>
          </a:p>
          <a:p>
            <a:endParaRPr lang="fr-FR" sz="3600" dirty="0">
              <a:solidFill>
                <a:schemeClr val="bg1"/>
              </a:solidFill>
              <a:latin typeface="PT Sans Caption" panose="020B0603020203020204" pitchFamily="34" charset="77"/>
              <a:cs typeface="Calibri" panose="020F0502020204030204" pitchFamily="34" charset="0"/>
            </a:endParaRPr>
          </a:p>
          <a:p>
            <a:r>
              <a:rPr lang="fr-FR" sz="3600" dirty="0">
                <a:solidFill>
                  <a:schemeClr val="bg1"/>
                </a:solidFill>
                <a:latin typeface="PT Sans Caption" panose="020B0603020203020204" pitchFamily="34" charset="77"/>
                <a:cs typeface="Calibri" panose="020F0502020204030204" pitchFamily="34" charset="0"/>
              </a:rPr>
              <a:t>Jour 6 - Machine Learning </a:t>
            </a:r>
            <a:r>
              <a:rPr lang="fr-FR" sz="3600" dirty="0" err="1">
                <a:solidFill>
                  <a:schemeClr val="bg1"/>
                </a:solidFill>
                <a:latin typeface="PT Sans Caption" panose="020B0603020203020204" pitchFamily="34" charset="77"/>
                <a:cs typeface="Calibri" panose="020F0502020204030204" pitchFamily="34" charset="0"/>
              </a:rPr>
              <a:t>Projects</a:t>
            </a:r>
            <a:endParaRPr lang="fr-FR" sz="3600" dirty="0">
              <a:solidFill>
                <a:schemeClr val="bg1"/>
              </a:solidFill>
              <a:latin typeface="PT Sans Caption" panose="020B0603020203020204" pitchFamily="34" charset="77"/>
              <a:cs typeface="Calibri" panose="020F0502020204030204" pitchFamily="34" charset="0"/>
            </a:endParaRPr>
          </a:p>
        </p:txBody>
      </p:sp>
      <p:pic>
        <p:nvPicPr>
          <p:cNvPr id="16" name="Image 15">
            <a:extLst>
              <a:ext uri="{FF2B5EF4-FFF2-40B4-BE49-F238E27FC236}">
                <a16:creationId xmlns:a16="http://schemas.microsoft.com/office/drawing/2014/main" id="{3F0756C5-9BA7-29CC-194A-625BC7DDD42A}"/>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242012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BC578-FDAC-DF24-B728-EA78A7C05B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C1AE812-9A2A-ADE5-82A8-0C9D260DE77B}"/>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err="1">
                <a:solidFill>
                  <a:schemeClr val="bg1"/>
                </a:solidFill>
                <a:latin typeface="PT Sans Caption" panose="020B0603020203020204" pitchFamily="34" charset="77"/>
              </a:rPr>
              <a:t>What</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you</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will</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learn</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with</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this</a:t>
            </a:r>
            <a:r>
              <a:rPr lang="fr-FR" sz="3200" b="1" dirty="0">
                <a:solidFill>
                  <a:schemeClr val="bg1"/>
                </a:solidFill>
                <a:latin typeface="PT Sans Caption" panose="020B0603020203020204" pitchFamily="34" charset="77"/>
              </a:rPr>
              <a:t> course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0AEA3CCF-67FD-7804-5F0A-23A9B0398FD8}"/>
              </a:ext>
            </a:extLst>
          </p:cNvPr>
          <p:cNvSpPr>
            <a:spLocks noGrp="1"/>
          </p:cNvSpPr>
          <p:nvPr>
            <p:ph idx="1"/>
          </p:nvPr>
        </p:nvSpPr>
        <p:spPr>
          <a:xfrm>
            <a:off x="308471" y="2049137"/>
            <a:ext cx="10675346" cy="4285562"/>
          </a:xfrm>
        </p:spPr>
        <p:txBody>
          <a:bodyPr>
            <a:normAutofit/>
          </a:bodyPr>
          <a:lstStyle/>
          <a:p>
            <a:pPr marL="0" indent="0">
              <a:buNone/>
            </a:pPr>
            <a:r>
              <a:rPr lang="fr-FR" sz="1800" dirty="0">
                <a:solidFill>
                  <a:schemeClr val="bg1"/>
                </a:solidFill>
                <a:latin typeface="PT Sans Caption" panose="020B0603020203020204" pitchFamily="34" charset="77"/>
              </a:rPr>
              <a:t>L’objectif de ce module est de consolider vos connaissances en Machine Learning à travers plusieurs projets pratiques.</a:t>
            </a:r>
          </a:p>
          <a:p>
            <a:pPr marL="0" indent="0">
              <a:buNone/>
            </a:pPr>
            <a:r>
              <a:rPr lang="fr-FR" sz="1800" dirty="0">
                <a:solidFill>
                  <a:schemeClr val="bg1"/>
                </a:solidFill>
                <a:latin typeface="PT Sans Caption" panose="020B0603020203020204" pitchFamily="34" charset="77"/>
              </a:rPr>
              <a:t>Ces projets couvrent différents algorithmes et techniques déjà abordés dans les cours précédents. Ils vous permettront de :</a:t>
            </a:r>
          </a:p>
          <a:p>
            <a:r>
              <a:rPr lang="fr-FR" sz="1800" dirty="0">
                <a:solidFill>
                  <a:schemeClr val="bg1"/>
                </a:solidFill>
                <a:latin typeface="PT Sans Caption" panose="020B0603020203020204" pitchFamily="34" charset="77"/>
              </a:rPr>
              <a:t>Appliquer des algorithmes de Machine Learning sur des données réelles,</a:t>
            </a:r>
          </a:p>
          <a:p>
            <a:r>
              <a:rPr lang="fr-FR" sz="1800" dirty="0">
                <a:solidFill>
                  <a:schemeClr val="bg1"/>
                </a:solidFill>
                <a:latin typeface="PT Sans Caption" panose="020B0603020203020204" pitchFamily="34" charset="77"/>
              </a:rPr>
              <a:t>Évaluer et comparer les performances de plusieurs modèles,</a:t>
            </a:r>
          </a:p>
          <a:p>
            <a:r>
              <a:rPr lang="fr-FR" sz="1800" dirty="0">
                <a:solidFill>
                  <a:schemeClr val="bg1"/>
                </a:solidFill>
                <a:latin typeface="PT Sans Caption" panose="020B0603020203020204" pitchFamily="34" charset="77"/>
              </a:rPr>
              <a:t>Acquérir une expérience concrète en prétraitement des données, </a:t>
            </a:r>
            <a:r>
              <a:rPr lang="fr-FR" sz="1800" dirty="0" err="1">
                <a:solidFill>
                  <a:schemeClr val="bg1"/>
                </a:solidFill>
                <a:latin typeface="PT Sans Caption" panose="020B0603020203020204" pitchFamily="34" charset="77"/>
              </a:rPr>
              <a:t>feature</a:t>
            </a:r>
            <a:r>
              <a:rPr lang="fr-FR" sz="1800" dirty="0">
                <a:solidFill>
                  <a:schemeClr val="bg1"/>
                </a:solidFill>
                <a:latin typeface="PT Sans Caption" panose="020B0603020203020204" pitchFamily="34" charset="77"/>
              </a:rPr>
              <a:t> engineering et réglage des modèles,</a:t>
            </a:r>
          </a:p>
          <a:p>
            <a:r>
              <a:rPr lang="fr-FR" sz="1800" dirty="0">
                <a:solidFill>
                  <a:schemeClr val="bg1"/>
                </a:solidFill>
                <a:latin typeface="PT Sans Caption" panose="020B0603020203020204" pitchFamily="34" charset="77"/>
              </a:rPr>
              <a:t>Développer une méthodologie de résolution de problèmes en Machine Learning,</a:t>
            </a:r>
          </a:p>
          <a:p>
            <a:r>
              <a:rPr lang="fr-FR" sz="1800" dirty="0">
                <a:solidFill>
                  <a:schemeClr val="bg1"/>
                </a:solidFill>
                <a:latin typeface="PT Sans Caption" panose="020B0603020203020204" pitchFamily="34" charset="77"/>
              </a:rPr>
              <a:t>Construire un portfolio de projets valorisable auprès de recruteurs ou d’employeurs.</a:t>
            </a:r>
          </a:p>
          <a:p>
            <a:pPr marL="0" indent="0">
              <a:buNone/>
            </a:pPr>
            <a:r>
              <a:rPr lang="fr-FR" sz="1800" dirty="0">
                <a:solidFill>
                  <a:schemeClr val="bg1"/>
                </a:solidFill>
                <a:latin typeface="PT Sans Caption" panose="020B0603020203020204" pitchFamily="34" charset="77"/>
              </a:rPr>
              <a:t>Ce module marque une étape clé entre la théorie et la pratique professionnelle.</a:t>
            </a:r>
          </a:p>
        </p:txBody>
      </p:sp>
      <p:pic>
        <p:nvPicPr>
          <p:cNvPr id="9" name="Image 8">
            <a:extLst>
              <a:ext uri="{FF2B5EF4-FFF2-40B4-BE49-F238E27FC236}">
                <a16:creationId xmlns:a16="http://schemas.microsoft.com/office/drawing/2014/main" id="{6FA4A4B3-39D1-3310-D484-B298DFC0E5C7}"/>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726650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E672E-4EB2-423D-8F6B-4A524503CC0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D9DC24-C39D-B570-4480-8E8E7ABA22AE}"/>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err="1">
                <a:solidFill>
                  <a:schemeClr val="bg1"/>
                </a:solidFill>
                <a:latin typeface="PT Sans Caption" panose="020B0603020203020204" pitchFamily="34" charset="77"/>
              </a:rPr>
              <a:t>What</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you</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will</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learn</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with</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this</a:t>
            </a:r>
            <a:r>
              <a:rPr lang="fr-FR" sz="3200" b="1" dirty="0">
                <a:solidFill>
                  <a:schemeClr val="bg1"/>
                </a:solidFill>
                <a:latin typeface="PT Sans Caption" panose="020B0603020203020204" pitchFamily="34" charset="77"/>
              </a:rPr>
              <a:t> course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43B064DC-9358-1B6E-2EFF-ECC223DB73E2}"/>
              </a:ext>
            </a:extLst>
          </p:cNvPr>
          <p:cNvSpPr>
            <a:spLocks noGrp="1"/>
          </p:cNvSpPr>
          <p:nvPr>
            <p:ph idx="1"/>
          </p:nvPr>
        </p:nvSpPr>
        <p:spPr>
          <a:xfrm>
            <a:off x="308471" y="2049137"/>
            <a:ext cx="10675346" cy="4285562"/>
          </a:xfrm>
        </p:spPr>
        <p:txBody>
          <a:bodyPr>
            <a:normAutofit/>
          </a:bodyPr>
          <a:lstStyle/>
          <a:p>
            <a:pPr marL="0" indent="0">
              <a:buNone/>
            </a:pPr>
            <a:r>
              <a:rPr lang="fr-FR" sz="2000" b="1" dirty="0">
                <a:solidFill>
                  <a:srgbClr val="F4B183"/>
                </a:solidFill>
                <a:latin typeface="PT Sans Caption" panose="020B0603020203020204" pitchFamily="34" charset="77"/>
              </a:rPr>
              <a:t>Information importante :</a:t>
            </a:r>
          </a:p>
          <a:p>
            <a:pPr marL="0" indent="0">
              <a:buNone/>
            </a:pPr>
            <a:r>
              <a:rPr lang="fr-FR" sz="1800" dirty="0">
                <a:solidFill>
                  <a:schemeClr val="bg1"/>
                </a:solidFill>
                <a:latin typeface="PT Sans Caption" panose="020B0603020203020204" pitchFamily="34" charset="77"/>
              </a:rPr>
              <a:t>Les trois projets font partie des exigences obligatoires du </a:t>
            </a:r>
            <a:r>
              <a:rPr lang="fr-FR" sz="1800" dirty="0">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bloc 3 </a:t>
            </a:r>
            <a:r>
              <a:rPr lang="fr-FR" sz="1800" dirty="0">
                <a:solidFill>
                  <a:schemeClr val="bg1"/>
                </a:solidFill>
                <a:latin typeface="PT Sans Caption" panose="020B0603020203020204" pitchFamily="34" charset="77"/>
              </a:rPr>
              <a:t>de la certification CDSD (Concepteur développeur en science des données).</a:t>
            </a:r>
          </a:p>
          <a:p>
            <a:pPr marL="0" indent="0">
              <a:buNone/>
            </a:pPr>
            <a:r>
              <a:rPr lang="fr-FR" sz="1800" dirty="0">
                <a:solidFill>
                  <a:schemeClr val="bg1"/>
                </a:solidFill>
                <a:latin typeface="PT Sans Caption" panose="020B0603020203020204" pitchFamily="34" charset="77"/>
              </a:rPr>
              <a:t>Cependant, aujourd’hui, l’objectif est de choisir un seul projet parmi les trois et de commencer à travailler dessus.</a:t>
            </a:r>
          </a:p>
          <a:p>
            <a:pPr marL="0" indent="0">
              <a:buNone/>
            </a:pPr>
            <a:r>
              <a:rPr lang="fr-FR" sz="1800" dirty="0">
                <a:solidFill>
                  <a:schemeClr val="bg1"/>
                </a:solidFill>
                <a:latin typeface="PT Sans Caption" panose="020B0603020203020204" pitchFamily="34" charset="77"/>
              </a:rPr>
              <a:t>Les deux autres projets seront réalisés ultérieurement dans le cadre de la certification.</a:t>
            </a:r>
          </a:p>
        </p:txBody>
      </p:sp>
      <p:pic>
        <p:nvPicPr>
          <p:cNvPr id="9" name="Image 8">
            <a:extLst>
              <a:ext uri="{FF2B5EF4-FFF2-40B4-BE49-F238E27FC236}">
                <a16:creationId xmlns:a16="http://schemas.microsoft.com/office/drawing/2014/main" id="{E067D52B-D6C4-8356-5760-387C6887F854}"/>
              </a:ext>
            </a:extLst>
          </p:cNvPr>
          <p:cNvPicPr>
            <a:picLocks noChangeAspect="1"/>
          </p:cNvPicPr>
          <p:nvPr/>
        </p:nvPicPr>
        <p:blipFill>
          <a:blip r:embed="rId4"/>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68094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7670-FF2F-1F90-820B-FB8853CCB3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07CF7E-1592-BCA9-14B4-85A348459669}"/>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err="1">
                <a:solidFill>
                  <a:schemeClr val="bg1"/>
                </a:solidFill>
                <a:latin typeface="PT Sans Caption" panose="020B0603020203020204" pitchFamily="34" charset="77"/>
              </a:rPr>
              <a:t>Projects</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overview</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E47D7BAE-6ADB-E4C7-357A-E261D0075C04}"/>
              </a:ext>
            </a:extLst>
          </p:cNvPr>
          <p:cNvSpPr>
            <a:spLocks noGrp="1"/>
          </p:cNvSpPr>
          <p:nvPr>
            <p:ph idx="1"/>
          </p:nvPr>
        </p:nvSpPr>
        <p:spPr>
          <a:xfrm>
            <a:off x="308471" y="2049137"/>
            <a:ext cx="10675346" cy="4285562"/>
          </a:xfrm>
        </p:spPr>
        <p:txBody>
          <a:bodyPr>
            <a:normAutofit/>
          </a:bodyPr>
          <a:lstStyle/>
          <a:p>
            <a:pPr marL="0" indent="0" algn="ctr">
              <a:buNone/>
            </a:pPr>
            <a:r>
              <a:rPr lang="fr-FR" sz="2000" b="1" dirty="0">
                <a:solidFill>
                  <a:srgbClr val="F4B183"/>
                </a:solidFill>
                <a:latin typeface="PT Sans Caption" panose="020B0603020203020204" pitchFamily="34" charset="77"/>
              </a:rPr>
              <a:t>Walmart Sales</a:t>
            </a:r>
          </a:p>
          <a:p>
            <a:pPr marL="0" indent="0">
              <a:buNone/>
            </a:pPr>
            <a:r>
              <a:rPr lang="fr-FR" sz="2000" dirty="0">
                <a:solidFill>
                  <a:schemeClr val="bg1"/>
                </a:solidFill>
                <a:latin typeface="PT Sans Caption" panose="020B0603020203020204" pitchFamily="34" charset="77"/>
              </a:rPr>
              <a:t>Le service marketing de Walmart vous demande de développer un modèle de Machine Learning (régression) capable de prédire les ventes hebdomadaires des magasins avec la meilleure précision possible.</a:t>
            </a:r>
          </a:p>
          <a:p>
            <a:pPr marL="0" indent="0">
              <a:buNone/>
            </a:pPr>
            <a:r>
              <a:rPr lang="fr-FR" sz="2000" dirty="0">
                <a:solidFill>
                  <a:schemeClr val="bg1"/>
                </a:solidFill>
                <a:latin typeface="PT Sans Caption" panose="020B0603020203020204" pitchFamily="34" charset="77"/>
              </a:rPr>
              <a:t>Un tel modèle permettra :</a:t>
            </a:r>
          </a:p>
          <a:p>
            <a:r>
              <a:rPr lang="fr-FR" sz="2000" dirty="0">
                <a:solidFill>
                  <a:schemeClr val="bg1"/>
                </a:solidFill>
                <a:latin typeface="PT Sans Caption" panose="020B0603020203020204" pitchFamily="34" charset="77"/>
              </a:rPr>
              <a:t>de mieux comprendre l’influence des indicateurs économiques sur les ventes,</a:t>
            </a:r>
          </a:p>
          <a:p>
            <a:r>
              <a:rPr lang="fr-FR" sz="2000" dirty="0">
                <a:solidFill>
                  <a:schemeClr val="bg1"/>
                </a:solidFill>
                <a:latin typeface="PT Sans Caption" panose="020B0603020203020204" pitchFamily="34" charset="77"/>
              </a:rPr>
              <a:t>d’anticiper les ventes futures,</a:t>
            </a:r>
          </a:p>
          <a:p>
            <a:r>
              <a:rPr lang="fr-FR" sz="2000" dirty="0">
                <a:solidFill>
                  <a:schemeClr val="bg1"/>
                </a:solidFill>
                <a:latin typeface="PT Sans Caption" panose="020B0603020203020204" pitchFamily="34" charset="77"/>
              </a:rPr>
              <a:t>et d’aider à la planification des campagnes marketing.</a:t>
            </a:r>
          </a:p>
          <a:p>
            <a:pPr marL="0" indent="0">
              <a:buNone/>
            </a:pPr>
            <a:r>
              <a:rPr lang="fr-FR" sz="2000" dirty="0">
                <a:solidFill>
                  <a:schemeClr val="bg1"/>
                </a:solidFill>
                <a:latin typeface="PT Sans Caption" panose="020B0603020203020204" pitchFamily="34" charset="77"/>
              </a:rPr>
              <a:t>Ce projet met l’accent sur la prédiction et l’interprétation des résultats dans un contexte métier réel.</a:t>
            </a:r>
          </a:p>
        </p:txBody>
      </p:sp>
      <p:pic>
        <p:nvPicPr>
          <p:cNvPr id="9" name="Image 8">
            <a:extLst>
              <a:ext uri="{FF2B5EF4-FFF2-40B4-BE49-F238E27FC236}">
                <a16:creationId xmlns:a16="http://schemas.microsoft.com/office/drawing/2014/main" id="{92577426-1977-3031-1CB7-3F0AA5B9A326}"/>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641047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1F1E-D3A4-346F-186F-B0727AC5B0A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64DA86-E2B9-D0F3-7CFF-436CDBA7048F}"/>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err="1">
                <a:solidFill>
                  <a:schemeClr val="bg1"/>
                </a:solidFill>
                <a:latin typeface="PT Sans Caption" panose="020B0603020203020204" pitchFamily="34" charset="77"/>
              </a:rPr>
              <a:t>Projects</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overview</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017D07FF-2BAC-F1A0-3441-1580B03BCE3E}"/>
              </a:ext>
            </a:extLst>
          </p:cNvPr>
          <p:cNvSpPr>
            <a:spLocks noGrp="1"/>
          </p:cNvSpPr>
          <p:nvPr>
            <p:ph idx="1"/>
          </p:nvPr>
        </p:nvSpPr>
        <p:spPr>
          <a:xfrm>
            <a:off x="308471" y="2049137"/>
            <a:ext cx="10675346" cy="4285562"/>
          </a:xfrm>
        </p:spPr>
        <p:txBody>
          <a:bodyPr>
            <a:normAutofit fontScale="92500"/>
          </a:bodyPr>
          <a:lstStyle/>
          <a:p>
            <a:pPr marL="0" indent="0" algn="ctr">
              <a:buNone/>
            </a:pPr>
            <a:r>
              <a:rPr lang="fr-FR" sz="2000" b="1" dirty="0">
                <a:solidFill>
                  <a:srgbClr val="F4B183"/>
                </a:solidFill>
                <a:latin typeface="PT Sans Caption" panose="020B0603020203020204" pitchFamily="34" charset="77"/>
              </a:rPr>
              <a:t>Conversion Rate Challenge</a:t>
            </a:r>
          </a:p>
          <a:p>
            <a:pPr marL="0" indent="0">
              <a:buNone/>
            </a:pPr>
            <a:r>
              <a:rPr lang="fr-FR" sz="2000" dirty="0">
                <a:solidFill>
                  <a:schemeClr val="bg1"/>
                </a:solidFill>
                <a:latin typeface="PT Sans Caption" panose="020B0603020203020204" pitchFamily="34" charset="77"/>
              </a:rPr>
              <a:t>Un site de newsletter en ligne souhaite augmenter son taux de conversion, c’est-à-dire la proportion de visiteurs qui finissent par s’abonner.</a:t>
            </a:r>
          </a:p>
          <a:p>
            <a:pPr marL="0" indent="0">
              <a:buNone/>
            </a:pPr>
            <a:r>
              <a:rPr lang="fr-FR" sz="2000" dirty="0">
                <a:solidFill>
                  <a:schemeClr val="bg1"/>
                </a:solidFill>
                <a:latin typeface="PT Sans Caption" panose="020B0603020203020204" pitchFamily="34" charset="77"/>
              </a:rPr>
              <a:t>Pour cela, l’équipe a collecté différentes informations sur les utilisateurs :</a:t>
            </a:r>
          </a:p>
          <a:p>
            <a:r>
              <a:rPr lang="fr-FR" sz="2000" dirty="0">
                <a:solidFill>
                  <a:schemeClr val="bg1"/>
                </a:solidFill>
                <a:latin typeface="PT Sans Caption" panose="020B0603020203020204" pitchFamily="34" charset="77"/>
              </a:rPr>
              <a:t>données démographiques,</a:t>
            </a:r>
          </a:p>
          <a:p>
            <a:r>
              <a:rPr lang="fr-FR" sz="2000" dirty="0">
                <a:solidFill>
                  <a:schemeClr val="bg1"/>
                </a:solidFill>
                <a:latin typeface="PT Sans Caption" panose="020B0603020203020204" pitchFamily="34" charset="77"/>
              </a:rPr>
              <a:t>comportement de navigation,</a:t>
            </a:r>
          </a:p>
          <a:p>
            <a:r>
              <a:rPr lang="fr-FR" sz="2000" dirty="0">
                <a:solidFill>
                  <a:schemeClr val="bg1"/>
                </a:solidFill>
                <a:latin typeface="PT Sans Caption" panose="020B0603020203020204" pitchFamily="34" charset="77"/>
              </a:rPr>
              <a:t>interactions passées avec la newsletter.</a:t>
            </a:r>
          </a:p>
          <a:p>
            <a:pPr marL="0" indent="0">
              <a:buNone/>
            </a:pPr>
            <a:r>
              <a:rPr lang="fr-FR" sz="2000" dirty="0">
                <a:solidFill>
                  <a:schemeClr val="bg1"/>
                </a:solidFill>
                <a:latin typeface="PT Sans Caption" panose="020B0603020203020204" pitchFamily="34" charset="77"/>
              </a:rPr>
              <a:t>L’objectif est de construire un modèle de Machine Learning (classification) capable de prédire si un utilisateur va s’abonner ou non, à partir d’un nombre limité de variables.</a:t>
            </a:r>
          </a:p>
          <a:p>
            <a:pPr marL="0" indent="0">
              <a:buNone/>
            </a:pPr>
            <a:r>
              <a:rPr lang="fr-FR" sz="2000" dirty="0">
                <a:solidFill>
                  <a:schemeClr val="bg1"/>
                </a:solidFill>
                <a:latin typeface="PT Sans Caption" panose="020B0603020203020204" pitchFamily="34" charset="77"/>
              </a:rPr>
              <a:t>Au-delà de la prédiction, le projet vise aussi à analyser les paramètres du modèle afin d’identifier les facteurs les plus influents sur le comportement des utilisateurs, et ainsi découvrir de nouveaux leviers d’action pour améliorer le taux de conversion.</a:t>
            </a:r>
            <a:endParaRPr lang="fr-FR" sz="1800" dirty="0">
              <a:solidFill>
                <a:schemeClr val="bg1"/>
              </a:solidFill>
              <a:latin typeface="PT Sans Caption" panose="020B0603020203020204" pitchFamily="34" charset="77"/>
            </a:endParaRPr>
          </a:p>
        </p:txBody>
      </p:sp>
      <p:pic>
        <p:nvPicPr>
          <p:cNvPr id="9" name="Image 8">
            <a:extLst>
              <a:ext uri="{FF2B5EF4-FFF2-40B4-BE49-F238E27FC236}">
                <a16:creationId xmlns:a16="http://schemas.microsoft.com/office/drawing/2014/main" id="{6B34B0F5-9BF3-4F86-0309-19893080E183}"/>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2184074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F651-90CF-1F15-3CCE-7974361ED38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64854C5-94FE-8EC6-054A-BB7009BB0185}"/>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err="1">
                <a:solidFill>
                  <a:schemeClr val="bg1"/>
                </a:solidFill>
                <a:latin typeface="PT Sans Caption" panose="020B0603020203020204" pitchFamily="34" charset="77"/>
              </a:rPr>
              <a:t>Projects</a:t>
            </a:r>
            <a:r>
              <a:rPr lang="fr-FR" sz="3200" b="1" dirty="0">
                <a:solidFill>
                  <a:schemeClr val="bg1"/>
                </a:solidFill>
                <a:latin typeface="PT Sans Caption" panose="020B0603020203020204" pitchFamily="34" charset="77"/>
              </a:rPr>
              <a:t> </a:t>
            </a:r>
            <a:r>
              <a:rPr lang="fr-FR" sz="3200" b="1" dirty="0" err="1">
                <a:solidFill>
                  <a:schemeClr val="bg1"/>
                </a:solidFill>
                <a:latin typeface="PT Sans Caption" panose="020B0603020203020204" pitchFamily="34" charset="77"/>
              </a:rPr>
              <a:t>overview</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089D9D15-EA23-1DC8-39F0-7385E0B8E2EB}"/>
              </a:ext>
            </a:extLst>
          </p:cNvPr>
          <p:cNvSpPr>
            <a:spLocks noGrp="1"/>
          </p:cNvSpPr>
          <p:nvPr>
            <p:ph idx="1"/>
          </p:nvPr>
        </p:nvSpPr>
        <p:spPr>
          <a:xfrm>
            <a:off x="308471" y="2049137"/>
            <a:ext cx="10675346" cy="4285562"/>
          </a:xfrm>
        </p:spPr>
        <p:txBody>
          <a:bodyPr>
            <a:normAutofit lnSpcReduction="10000"/>
          </a:bodyPr>
          <a:lstStyle/>
          <a:p>
            <a:pPr marL="0" indent="0" algn="ctr">
              <a:buNone/>
            </a:pPr>
            <a:r>
              <a:rPr lang="fr-FR" sz="2000" b="1" dirty="0">
                <a:solidFill>
                  <a:srgbClr val="F4B183"/>
                </a:solidFill>
                <a:latin typeface="PT Sans Caption" panose="020B0603020203020204" pitchFamily="34" charset="77"/>
              </a:rPr>
              <a:t>Uber Pickup</a:t>
            </a:r>
          </a:p>
          <a:p>
            <a:pPr marL="0" indent="0">
              <a:buNone/>
            </a:pPr>
            <a:r>
              <a:rPr lang="fr-FR" sz="2000" dirty="0">
                <a:solidFill>
                  <a:schemeClr val="bg1"/>
                </a:solidFill>
                <a:latin typeface="PT Sans Caption" panose="020B0603020203020204" pitchFamily="34" charset="77"/>
              </a:rPr>
              <a:t>Uber dispose déjà de données sur les prises en charge dans plusieurs grandes villes.</a:t>
            </a:r>
          </a:p>
          <a:p>
            <a:pPr marL="0" indent="0">
              <a:buNone/>
            </a:pPr>
            <a:r>
              <a:rPr lang="fr-FR" sz="2000" dirty="0">
                <a:solidFill>
                  <a:schemeClr val="bg1"/>
                </a:solidFill>
                <a:latin typeface="PT Sans Caption" panose="020B0603020203020204" pitchFamily="34" charset="77"/>
              </a:rPr>
              <a:t>L’objectif de ce projet est de créer des algorithmes capables d’identifier les “zones chaudes”, c’est-à-dire les endroits où les chauffeurs ont le plus de chances de trouver des clients.</a:t>
            </a:r>
          </a:p>
          <a:p>
            <a:pPr marL="0" indent="0">
              <a:buNone/>
            </a:pPr>
            <a:r>
              <a:rPr lang="fr-FR" sz="2000" dirty="0">
                <a:solidFill>
                  <a:schemeClr val="bg1"/>
                </a:solidFill>
                <a:latin typeface="PT Sans Caption" panose="020B0603020203020204" pitchFamily="34" charset="77"/>
              </a:rPr>
              <a:t>On commencera par analyser les données et détecter les zones à forte demande.</a:t>
            </a:r>
          </a:p>
          <a:p>
            <a:pPr marL="0" indent="0">
              <a:buNone/>
            </a:pPr>
            <a:r>
              <a:rPr lang="fr-FR" sz="2000" dirty="0">
                <a:solidFill>
                  <a:schemeClr val="bg1"/>
                </a:solidFill>
                <a:latin typeface="PT Sans Caption" panose="020B0603020203020204" pitchFamily="34" charset="77"/>
              </a:rPr>
              <a:t>Ensuite, on pourra visualiser les résultats sur un tableau de bord interactif, pour que les chauffeurs puissent facilement les utiliser.</a:t>
            </a:r>
          </a:p>
          <a:p>
            <a:pPr marL="0" indent="0">
              <a:buNone/>
            </a:pPr>
            <a:r>
              <a:rPr lang="fr-FR" sz="2000" dirty="0">
                <a:solidFill>
                  <a:schemeClr val="bg1"/>
                </a:solidFill>
                <a:latin typeface="PT Sans Caption" panose="020B0603020203020204" pitchFamily="34" charset="77"/>
              </a:rPr>
              <a:t>Ce projet met l’accent sur l’analyse spatiale et la visualisation des données.</a:t>
            </a:r>
          </a:p>
          <a:p>
            <a:pPr marL="0" indent="0">
              <a:buNone/>
            </a:pPr>
            <a:r>
              <a:rPr lang="fr-FR" sz="2000" dirty="0">
                <a:solidFill>
                  <a:schemeClr val="bg1"/>
                </a:solidFill>
                <a:latin typeface="PT Sans Caption" panose="020B0603020203020204" pitchFamily="34" charset="77"/>
              </a:rPr>
              <a:t>Pour le projet Uber Pickup, le type de modèle demandé est non supervisé, typiquement un algorithme de clustering (comme K-</a:t>
            </a:r>
            <a:r>
              <a:rPr lang="fr-FR" sz="2000" dirty="0" err="1">
                <a:solidFill>
                  <a:schemeClr val="bg1"/>
                </a:solidFill>
                <a:latin typeface="PT Sans Caption" panose="020B0603020203020204" pitchFamily="34" charset="77"/>
              </a:rPr>
              <a:t>Means</a:t>
            </a:r>
            <a:r>
              <a:rPr lang="fr-FR" sz="2000" dirty="0">
                <a:solidFill>
                  <a:schemeClr val="bg1"/>
                </a:solidFill>
                <a:latin typeface="PT Sans Caption" panose="020B0603020203020204" pitchFamily="34" charset="77"/>
              </a:rPr>
              <a:t>) pour identifier les zones chaudes à partir des données de localisation des prises en charge.</a:t>
            </a:r>
          </a:p>
        </p:txBody>
      </p:sp>
      <p:pic>
        <p:nvPicPr>
          <p:cNvPr id="9" name="Image 8">
            <a:extLst>
              <a:ext uri="{FF2B5EF4-FFF2-40B4-BE49-F238E27FC236}">
                <a16:creationId xmlns:a16="http://schemas.microsoft.com/office/drawing/2014/main" id="{16EB3EAB-1094-284D-49E4-8272C5E9FD6C}"/>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867381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3D10-8D28-4AC7-8DC9-2C9431FF080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4BFA12-B3DC-8825-FDE0-16AFD29D36E7}"/>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03919938-8A4F-10D8-2580-B40F33EECB66}"/>
              </a:ext>
            </a:extLst>
          </p:cNvPr>
          <p:cNvSpPr>
            <a:spLocks noGrp="1"/>
          </p:cNvSpPr>
          <p:nvPr>
            <p:ph idx="1"/>
          </p:nvPr>
        </p:nvSpPr>
        <p:spPr>
          <a:xfrm>
            <a:off x="308471" y="2049137"/>
            <a:ext cx="10675346" cy="4285562"/>
          </a:xfrm>
        </p:spPr>
        <p:txBody>
          <a:bodyPr>
            <a:normAutofit/>
          </a:bodyPr>
          <a:lstStyle/>
          <a:p>
            <a:pPr marL="0" indent="0" algn="ctr">
              <a:buNone/>
            </a:pPr>
            <a:r>
              <a:rPr lang="fr-FR" sz="2000" b="1" dirty="0">
                <a:solidFill>
                  <a:srgbClr val="F4B183"/>
                </a:solidFill>
                <a:latin typeface="PT Sans Caption" panose="020B0603020203020204" pitchFamily="34" charset="77"/>
              </a:rPr>
              <a:t>Entreprise :</a:t>
            </a:r>
          </a:p>
          <a:p>
            <a:pPr marL="0" indent="0" algn="ctr">
              <a:buNone/>
            </a:pPr>
            <a:r>
              <a:rPr lang="fr-FR" sz="2000" dirty="0">
                <a:solidFill>
                  <a:schemeClr val="bg1"/>
                </a:solidFill>
                <a:latin typeface="PT Sans Caption" panose="020B0603020203020204" pitchFamily="34" charset="77"/>
              </a:rPr>
              <a:t>Walmart est une société américaine de distribution qui exploite des hypermarchés, magasins de détail et supermarchés. Elle a été fondée en 1962 par Sam Walton et est basée à Bentonville, Arkansas.</a:t>
            </a:r>
          </a:p>
          <a:p>
            <a:pPr marL="0" indent="0" algn="ctr">
              <a:buNone/>
            </a:pPr>
            <a:endParaRPr lang="fr-FR" sz="2000" dirty="0">
              <a:solidFill>
                <a:schemeClr val="bg1"/>
              </a:solidFill>
              <a:latin typeface="PT Sans Caption" panose="020B0603020203020204" pitchFamily="34" charset="77"/>
            </a:endParaRPr>
          </a:p>
          <a:p>
            <a:pPr marL="0" indent="0" algn="ctr">
              <a:buNone/>
            </a:pPr>
            <a:r>
              <a:rPr lang="fr-FR" sz="2000" b="1" dirty="0">
                <a:solidFill>
                  <a:srgbClr val="F4B183"/>
                </a:solidFill>
                <a:latin typeface="PT Sans Caption" panose="020B0603020203020204" pitchFamily="34" charset="77"/>
              </a:rPr>
              <a:t>Objectif du projet :</a:t>
            </a:r>
          </a:p>
          <a:p>
            <a:pPr marL="0" indent="0" algn="ctr">
              <a:buNone/>
            </a:pPr>
            <a:r>
              <a:rPr lang="fr-FR" sz="2000" dirty="0">
                <a:solidFill>
                  <a:schemeClr val="bg1"/>
                </a:solidFill>
                <a:latin typeface="PT Sans Caption" panose="020B0603020203020204" pitchFamily="34" charset="77"/>
              </a:rPr>
              <a:t>Le service marketing de Walmart souhaite prédire les ventes hebdomadaires de ses magasins avec la meilleure précision possible. Ces prédictions aideront à :</a:t>
            </a:r>
          </a:p>
          <a:p>
            <a:pPr marL="0" indent="0" algn="ctr">
              <a:buNone/>
            </a:pPr>
            <a:r>
              <a:rPr lang="fr-FR" sz="2000" dirty="0">
                <a:solidFill>
                  <a:schemeClr val="bg1"/>
                </a:solidFill>
                <a:latin typeface="PT Sans Caption" panose="020B0603020203020204" pitchFamily="34" charset="77"/>
              </a:rPr>
              <a:t>Comprendre comment les indicateurs économiques influencent les ventes,</a:t>
            </a:r>
          </a:p>
          <a:p>
            <a:pPr marL="0" indent="0" algn="ctr">
              <a:buNone/>
            </a:pPr>
            <a:r>
              <a:rPr lang="fr-FR" sz="2000" dirty="0">
                <a:solidFill>
                  <a:schemeClr val="bg1"/>
                </a:solidFill>
                <a:latin typeface="PT Sans Caption" panose="020B0603020203020204" pitchFamily="34" charset="77"/>
              </a:rPr>
              <a:t>Planifier les campagnes marketing futures.</a:t>
            </a:r>
          </a:p>
        </p:txBody>
      </p:sp>
      <p:pic>
        <p:nvPicPr>
          <p:cNvPr id="9" name="Image 8">
            <a:extLst>
              <a:ext uri="{FF2B5EF4-FFF2-40B4-BE49-F238E27FC236}">
                <a16:creationId xmlns:a16="http://schemas.microsoft.com/office/drawing/2014/main" id="{74365FE8-DE17-8093-BF53-624196C107C1}"/>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729176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D679F-884C-B726-AE38-9780B22D047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6B7332E-9E95-02CC-0E2A-8135880A4AF3}"/>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0FE2F418-ADAD-30AF-D500-A7B422410021}"/>
              </a:ext>
            </a:extLst>
          </p:cNvPr>
          <p:cNvSpPr>
            <a:spLocks noGrp="1"/>
          </p:cNvSpPr>
          <p:nvPr>
            <p:ph idx="1"/>
          </p:nvPr>
        </p:nvSpPr>
        <p:spPr>
          <a:xfrm>
            <a:off x="308471" y="2049137"/>
            <a:ext cx="10675346" cy="4285562"/>
          </a:xfrm>
        </p:spPr>
        <p:txBody>
          <a:bodyPr>
            <a:normAutofit/>
          </a:bodyPr>
          <a:lstStyle/>
          <a:p>
            <a:pPr marL="0" indent="0" algn="ctr">
              <a:buNone/>
            </a:pPr>
            <a:r>
              <a:rPr lang="fr-FR" sz="2000" b="1" dirty="0">
                <a:solidFill>
                  <a:srgbClr val="F4B183"/>
                </a:solidFill>
                <a:latin typeface="PT Sans Caption" panose="020B0603020203020204" pitchFamily="34" charset="77"/>
              </a:rPr>
              <a:t>Étapes du projet :</a:t>
            </a:r>
          </a:p>
          <a:p>
            <a:pPr marL="0" indent="0" algn="ctr">
              <a:buNone/>
            </a:pPr>
            <a:endParaRPr lang="fr-FR" sz="2000" b="1" dirty="0">
              <a:solidFill>
                <a:srgbClr val="F4B183"/>
              </a:solidFill>
              <a:latin typeface="PT Sans Caption" panose="020B0603020203020204" pitchFamily="34" charset="77"/>
            </a:endParaRPr>
          </a:p>
          <a:p>
            <a:pPr marL="457200" indent="-457200">
              <a:buFont typeface="+mj-lt"/>
              <a:buAutoNum type="arabicPeriod"/>
            </a:pPr>
            <a:r>
              <a:rPr lang="fr-FR" sz="2000" dirty="0">
                <a:solidFill>
                  <a:schemeClr val="bg1"/>
                </a:solidFill>
                <a:latin typeface="PT Sans Caption" panose="020B0603020203020204" pitchFamily="34" charset="77"/>
              </a:rPr>
              <a:t>Exploration et préparation des données (EDA et </a:t>
            </a:r>
            <a:r>
              <a:rPr lang="fr-FR" sz="2000" dirty="0" err="1">
                <a:solidFill>
                  <a:schemeClr val="bg1"/>
                </a:solidFill>
                <a:latin typeface="PT Sans Caption" panose="020B0603020203020204" pitchFamily="34" charset="77"/>
              </a:rPr>
              <a:t>preprocessing</a:t>
            </a:r>
            <a:r>
              <a:rPr lang="fr-FR" sz="2000" dirty="0">
                <a:solidFill>
                  <a:schemeClr val="bg1"/>
                </a:solidFill>
                <a:latin typeface="PT Sans Caption" panose="020B0603020203020204" pitchFamily="34" charset="77"/>
              </a:rPr>
              <a:t>) pour les rendre prêtes pour le Machine Learning.</a:t>
            </a:r>
          </a:p>
          <a:p>
            <a:pPr marL="457200" indent="-457200">
              <a:buFont typeface="+mj-lt"/>
              <a:buAutoNum type="arabicPeriod"/>
            </a:pPr>
            <a:r>
              <a:rPr lang="fr-FR" sz="2000" dirty="0">
                <a:solidFill>
                  <a:schemeClr val="bg1"/>
                </a:solidFill>
                <a:latin typeface="PT Sans Caption" panose="020B0603020203020204" pitchFamily="34" charset="77"/>
              </a:rPr>
              <a:t>Modèle de régression linéaire pour servir de </a:t>
            </a:r>
            <a:r>
              <a:rPr lang="fr-FR" sz="2000" dirty="0" err="1">
                <a:solidFill>
                  <a:schemeClr val="bg1"/>
                </a:solidFill>
                <a:latin typeface="PT Sans Caption" panose="020B0603020203020204" pitchFamily="34" charset="77"/>
              </a:rPr>
              <a:t>baseline</a:t>
            </a:r>
            <a:r>
              <a:rPr lang="fr-FR" sz="2000" dirty="0">
                <a:solidFill>
                  <a:schemeClr val="bg1"/>
                </a:solidFill>
                <a:latin typeface="PT Sans Caption" panose="020B0603020203020204" pitchFamily="34" charset="77"/>
              </a:rPr>
              <a:t>.</a:t>
            </a:r>
          </a:p>
          <a:p>
            <a:pPr marL="457200" indent="-457200">
              <a:buFont typeface="+mj-lt"/>
              <a:buAutoNum type="arabicPeriod"/>
            </a:pPr>
            <a:r>
              <a:rPr lang="fr-FR" sz="2000" dirty="0">
                <a:solidFill>
                  <a:schemeClr val="bg1"/>
                </a:solidFill>
                <a:latin typeface="PT Sans Caption" panose="020B0603020203020204" pitchFamily="34" charset="77"/>
              </a:rPr>
              <a:t>Régression régularisée (Lasso, Ridge, etc.) pour éviter le surapprentissage et améliorer la robustesse du modèle.</a:t>
            </a:r>
          </a:p>
          <a:p>
            <a:pPr marL="457200" indent="-457200">
              <a:buFont typeface="+mj-lt"/>
              <a:buAutoNum type="arabicPeriod"/>
            </a:pPr>
            <a:endParaRPr lang="fr-FR" sz="2000" dirty="0">
              <a:solidFill>
                <a:schemeClr val="bg1"/>
              </a:solidFill>
              <a:latin typeface="PT Sans Caption" panose="020B0603020203020204" pitchFamily="34" charset="77"/>
            </a:endParaRPr>
          </a:p>
          <a:p>
            <a:pPr marL="0" indent="0">
              <a:buNone/>
            </a:pPr>
            <a:r>
              <a:rPr lang="fr-FR" sz="2000" dirty="0">
                <a:solidFill>
                  <a:schemeClr val="bg1"/>
                </a:solidFill>
                <a:latin typeface="PT Sans Caption" panose="020B0603020203020204" pitchFamily="34" charset="77"/>
              </a:rPr>
              <a:t>Ce projet permet de mettre en pratique prétraitement, modélisation et optimisation de modèles de régression sur des données réelles.</a:t>
            </a:r>
          </a:p>
        </p:txBody>
      </p:sp>
      <p:pic>
        <p:nvPicPr>
          <p:cNvPr id="9" name="Image 8">
            <a:extLst>
              <a:ext uri="{FF2B5EF4-FFF2-40B4-BE49-F238E27FC236}">
                <a16:creationId xmlns:a16="http://schemas.microsoft.com/office/drawing/2014/main" id="{60338ADB-DD6E-BBFD-6384-A881F5079E1A}"/>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2616865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FE43E-CCBD-8B8D-7702-A575AEA5DB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772370-8A93-90C3-1008-8E49B4F4A64D}"/>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9FE89A89-1E22-20F8-10C0-4B0BD84EE65E}"/>
              </a:ext>
            </a:extLst>
          </p:cNvPr>
          <p:cNvSpPr>
            <a:spLocks noGrp="1"/>
          </p:cNvSpPr>
          <p:nvPr>
            <p:ph idx="1"/>
          </p:nvPr>
        </p:nvSpPr>
        <p:spPr>
          <a:xfrm>
            <a:off x="308471" y="2049137"/>
            <a:ext cx="10675346" cy="4285562"/>
          </a:xfrm>
        </p:spPr>
        <p:txBody>
          <a:bodyPr>
            <a:normAutofit/>
          </a:bodyPr>
          <a:lstStyle/>
          <a:p>
            <a:pPr marL="0" indent="0" algn="ctr">
              <a:buNone/>
            </a:pPr>
            <a:r>
              <a:rPr lang="fr-FR" sz="2000" b="1" dirty="0">
                <a:solidFill>
                  <a:srgbClr val="F4B183"/>
                </a:solidFill>
                <a:latin typeface="PT Sans Caption" panose="020B0603020203020204" pitchFamily="34" charset="77"/>
              </a:rPr>
              <a:t>Périmètre du projet 🖼️</a:t>
            </a:r>
          </a:p>
          <a:p>
            <a:pPr marL="0" indent="0" algn="ctr">
              <a:buNone/>
            </a:pPr>
            <a:r>
              <a:rPr lang="fr-FR" sz="2000" dirty="0">
                <a:solidFill>
                  <a:schemeClr val="bg1"/>
                </a:solidFill>
                <a:latin typeface="PT Sans Caption" panose="020B0603020203020204" pitchFamily="34" charset="77"/>
              </a:rPr>
              <a:t>Pour ce projet, vous travaillerez avec un dataset qui contient les ventes hebdomadaires des magasins Walmart ainsi que d’autres variables pouvant influencer les ventes, comme le taux de chômage ou le prix du carburant.</a:t>
            </a:r>
          </a:p>
          <a:p>
            <a:pPr marL="0" indent="0" algn="ctr">
              <a:buNone/>
            </a:pPr>
            <a:r>
              <a:rPr lang="fr-FR" sz="2000" dirty="0">
                <a:solidFill>
                  <a:schemeClr val="bg1"/>
                </a:solidFill>
                <a:latin typeface="PT Sans Caption" panose="020B0603020203020204" pitchFamily="34" charset="77"/>
              </a:rPr>
              <a:t>Le dataset provient d’une compétition </a:t>
            </a:r>
            <a:r>
              <a:rPr lang="fr-FR" sz="2000" dirty="0" err="1">
                <a:solidFill>
                  <a:schemeClr val="bg1"/>
                </a:solidFill>
                <a:latin typeface="PT Sans Caption" panose="020B0603020203020204" pitchFamily="34" charset="77"/>
              </a:rPr>
              <a:t>Kaggle</a:t>
            </a:r>
            <a:r>
              <a:rPr lang="fr-FR" sz="2000" dirty="0">
                <a:solidFill>
                  <a:schemeClr val="bg1"/>
                </a:solidFill>
                <a:latin typeface="PT Sans Caption" panose="020B0603020203020204" pitchFamily="34" charset="77"/>
              </a:rPr>
              <a:t>, mais il a été adapté pour notre cours.</a:t>
            </a:r>
          </a:p>
          <a:p>
            <a:pPr marL="0" indent="0" algn="ctr">
              <a:buNone/>
            </a:pPr>
            <a:r>
              <a:rPr lang="fr-FR" sz="2000" dirty="0">
                <a:solidFill>
                  <a:schemeClr val="bg1"/>
                </a:solidFill>
                <a:latin typeface="PT Sans Caption" panose="020B0603020203020204" pitchFamily="34" charset="77"/>
              </a:rPr>
              <a:t>Assurez-vous d’utiliser notre version personnalisée disponible sur </a:t>
            </a:r>
            <a:r>
              <a:rPr lang="fr-FR" sz="2000" dirty="0">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JULIE</a:t>
            </a:r>
            <a:r>
              <a:rPr lang="fr-FR" sz="2000" dirty="0">
                <a:solidFill>
                  <a:schemeClr val="bg1"/>
                </a:solidFill>
                <a:latin typeface="PT Sans Caption" panose="020B0603020203020204" pitchFamily="34" charset="77"/>
              </a:rPr>
              <a:t>.</a:t>
            </a:r>
          </a:p>
        </p:txBody>
      </p:sp>
      <p:pic>
        <p:nvPicPr>
          <p:cNvPr id="9" name="Image 8">
            <a:extLst>
              <a:ext uri="{FF2B5EF4-FFF2-40B4-BE49-F238E27FC236}">
                <a16:creationId xmlns:a16="http://schemas.microsoft.com/office/drawing/2014/main" id="{F3923FBC-1431-941A-E282-87ED101312E1}"/>
              </a:ext>
            </a:extLst>
          </p:cNvPr>
          <p:cNvPicPr>
            <a:picLocks noChangeAspect="1"/>
          </p:cNvPicPr>
          <p:nvPr/>
        </p:nvPicPr>
        <p:blipFill>
          <a:blip r:embed="rId4"/>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2273777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C7A2A-5872-8F6A-0090-851BBC11AF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5D9358D-1EED-A0FA-35EF-A3EBB430BBB4}"/>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4FC49462-5D1B-8A26-9E88-B2C44CFA1A45}"/>
              </a:ext>
            </a:extLst>
          </p:cNvPr>
          <p:cNvSpPr>
            <a:spLocks noGrp="1"/>
          </p:cNvSpPr>
          <p:nvPr>
            <p:ph idx="1"/>
          </p:nvPr>
        </p:nvSpPr>
        <p:spPr>
          <a:xfrm>
            <a:off x="308471" y="2049137"/>
            <a:ext cx="10675346" cy="4285562"/>
          </a:xfrm>
        </p:spPr>
        <p:txBody>
          <a:bodyPr>
            <a:normAutofit/>
          </a:bodyPr>
          <a:lstStyle/>
          <a:p>
            <a:pPr marL="0" indent="0" algn="ctr">
              <a:buNone/>
            </a:pPr>
            <a:r>
              <a:rPr lang="fr-FR" sz="2000" b="1" dirty="0">
                <a:solidFill>
                  <a:srgbClr val="F4B183"/>
                </a:solidFill>
                <a:latin typeface="PT Sans Caption" panose="020B0603020203020204" pitchFamily="34" charset="77"/>
              </a:rPr>
              <a:t>Livrables attendus 📬</a:t>
            </a:r>
          </a:p>
          <a:p>
            <a:pPr marL="0" indent="0">
              <a:buNone/>
            </a:pPr>
            <a:r>
              <a:rPr lang="fr-FR" sz="2000" dirty="0">
                <a:solidFill>
                  <a:schemeClr val="bg1"/>
                </a:solidFill>
                <a:latin typeface="PT Sans Caption" panose="020B0603020203020204" pitchFamily="34" charset="77"/>
              </a:rPr>
              <a:t>Votre équipe devra :</a:t>
            </a:r>
          </a:p>
          <a:p>
            <a:pPr marL="457200" indent="-457200">
              <a:buFont typeface="+mj-lt"/>
              <a:buAutoNum type="arabicPeriod"/>
            </a:pPr>
            <a:r>
              <a:rPr lang="fr-FR" sz="2000" dirty="0">
                <a:solidFill>
                  <a:schemeClr val="bg1"/>
                </a:solidFill>
                <a:latin typeface="PT Sans Caption" panose="020B0603020203020204" pitchFamily="34" charset="77"/>
              </a:rPr>
              <a:t>Créer des visualisations pour explorer les données.</a:t>
            </a:r>
          </a:p>
          <a:p>
            <a:pPr marL="457200" indent="-457200">
              <a:buFont typeface="+mj-lt"/>
              <a:buAutoNum type="arabicPeriod"/>
            </a:pPr>
            <a:r>
              <a:rPr lang="fr-FR" sz="2000" dirty="0">
                <a:solidFill>
                  <a:schemeClr val="bg1"/>
                </a:solidFill>
                <a:latin typeface="PT Sans Caption" panose="020B0603020203020204" pitchFamily="34" charset="77"/>
              </a:rPr>
              <a:t>Entraîner au moins un modèle de régression linéaire pour prédire les ventes hebdomadaires à partir des autres variables.</a:t>
            </a:r>
          </a:p>
          <a:p>
            <a:pPr marL="457200" indent="-457200">
              <a:buFont typeface="+mj-lt"/>
              <a:buAutoNum type="arabicPeriod"/>
            </a:pPr>
            <a:r>
              <a:rPr lang="fr-FR" sz="2000" dirty="0">
                <a:solidFill>
                  <a:schemeClr val="bg1"/>
                </a:solidFill>
                <a:latin typeface="PT Sans Caption" panose="020B0603020203020204" pitchFamily="34" charset="77"/>
              </a:rPr>
              <a:t>Évaluer la performance du modèle avec une métrique adaptée aux problèmes de régression (ex : RMSE, MAE).</a:t>
            </a:r>
          </a:p>
          <a:p>
            <a:pPr marL="457200" indent="-457200">
              <a:buFont typeface="+mj-lt"/>
              <a:buAutoNum type="arabicPeriod"/>
            </a:pPr>
            <a:r>
              <a:rPr lang="fr-FR" sz="2000" dirty="0">
                <a:solidFill>
                  <a:schemeClr val="bg1"/>
                </a:solidFill>
                <a:latin typeface="PT Sans Caption" panose="020B0603020203020204" pitchFamily="34" charset="77"/>
              </a:rPr>
              <a:t>Interpréter les coefficients pour identifier les variables les plus importantes.</a:t>
            </a:r>
          </a:p>
          <a:p>
            <a:pPr marL="457200" indent="-457200">
              <a:buFont typeface="+mj-lt"/>
              <a:buAutoNum type="arabicPeriod"/>
            </a:pPr>
            <a:r>
              <a:rPr lang="fr-FR" sz="2000" dirty="0">
                <a:solidFill>
                  <a:schemeClr val="bg1"/>
                </a:solidFill>
                <a:latin typeface="PT Sans Caption" panose="020B0603020203020204" pitchFamily="34" charset="77"/>
              </a:rPr>
              <a:t>Entraîner au moins un modèle régularisé (Lasso ou Ridge) pour réduire le surapprentissage.</a:t>
            </a:r>
          </a:p>
          <a:p>
            <a:pPr marL="0" indent="0">
              <a:buNone/>
            </a:pPr>
            <a:r>
              <a:rPr lang="fr-FR" sz="2000" dirty="0">
                <a:solidFill>
                  <a:schemeClr val="bg1"/>
                </a:solidFill>
                <a:latin typeface="PT Sans Caption" panose="020B0603020203020204" pitchFamily="34" charset="77"/>
              </a:rPr>
              <a:t>Ce projet vous permettra de pratiquer exploration, modélisation, évaluation et interprétation de modèles de régression sur des données réelles.</a:t>
            </a:r>
          </a:p>
        </p:txBody>
      </p:sp>
      <p:pic>
        <p:nvPicPr>
          <p:cNvPr id="9" name="Image 8">
            <a:extLst>
              <a:ext uri="{FF2B5EF4-FFF2-40B4-BE49-F238E27FC236}">
                <a16:creationId xmlns:a16="http://schemas.microsoft.com/office/drawing/2014/main" id="{57A749B9-E5B0-578B-2FEC-14630BBA2F76}"/>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2239748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738D5-E21B-3FDF-0EA5-171156F44B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1377938-15B8-A5FE-AF2A-DA438B57929F}"/>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49137DAE-B9C7-0902-D918-DB66A7BAFAB2}"/>
              </a:ext>
            </a:extLst>
          </p:cNvPr>
          <p:cNvSpPr>
            <a:spLocks noGrp="1"/>
          </p:cNvSpPr>
          <p:nvPr>
            <p:ph idx="1"/>
          </p:nvPr>
        </p:nvSpPr>
        <p:spPr>
          <a:xfrm>
            <a:off x="308471" y="2049137"/>
            <a:ext cx="10675346" cy="4285562"/>
          </a:xfrm>
        </p:spPr>
        <p:txBody>
          <a:bodyPr>
            <a:normAutofit/>
          </a:bodyPr>
          <a:lstStyle/>
          <a:p>
            <a:pPr marL="0" indent="0" algn="ctr">
              <a:buNone/>
            </a:pPr>
            <a:r>
              <a:rPr lang="fr-FR" sz="2000" b="1" dirty="0">
                <a:solidFill>
                  <a:srgbClr val="F4B183"/>
                </a:solidFill>
                <a:latin typeface="PT Sans Caption" panose="020B0603020203020204" pitchFamily="34" charset="77"/>
              </a:rPr>
              <a:t>Helpers :</a:t>
            </a:r>
          </a:p>
          <a:p>
            <a:pPr marL="0" indent="0" algn="ctr">
              <a:buNone/>
            </a:pPr>
            <a:endParaRPr lang="fr-FR" sz="2000" b="1" dirty="0">
              <a:solidFill>
                <a:srgbClr val="F4B183"/>
              </a:solidFill>
              <a:latin typeface="PT Sans Caption" panose="020B0603020203020204" pitchFamily="34" charset="77"/>
            </a:endParaRPr>
          </a:p>
          <a:p>
            <a:pPr marL="0" indent="0">
              <a:buNone/>
            </a:pPr>
            <a:r>
              <a:rPr lang="fr-FR" sz="2000" u="sng" dirty="0">
                <a:solidFill>
                  <a:schemeClr val="bg1"/>
                </a:solidFill>
                <a:latin typeface="PT Sans Caption" panose="020B0603020203020204" pitchFamily="34" charset="77"/>
              </a:rPr>
              <a:t>Partie 1 : EDA et prétraitement des données</a:t>
            </a:r>
          </a:p>
          <a:p>
            <a:r>
              <a:rPr lang="fr-FR" sz="2000" b="1" dirty="0">
                <a:solidFill>
                  <a:srgbClr val="F4B183"/>
                </a:solidFill>
                <a:latin typeface="PT Sans Caption" panose="020B0603020203020204" pitchFamily="34" charset="77"/>
              </a:rPr>
              <a:t>Commencez par explorer le dataset : </a:t>
            </a:r>
            <a:br>
              <a:rPr lang="fr-FR" sz="2000" dirty="0">
                <a:solidFill>
                  <a:schemeClr val="bg1"/>
                </a:solidFill>
                <a:latin typeface="PT Sans Caption" panose="020B0603020203020204" pitchFamily="34" charset="77"/>
              </a:rPr>
            </a:br>
            <a:r>
              <a:rPr lang="fr-FR" sz="2000" dirty="0">
                <a:solidFill>
                  <a:schemeClr val="bg1"/>
                </a:solidFill>
                <a:latin typeface="PT Sans Caption" panose="020B0603020203020204" pitchFamily="34" charset="77"/>
              </a:rPr>
              <a:t>Créer des graphiques, calculer des statistiques descriptives, etc.</a:t>
            </a:r>
            <a:br>
              <a:rPr lang="fr-FR" sz="2000" dirty="0">
                <a:solidFill>
                  <a:schemeClr val="bg1"/>
                </a:solidFill>
                <a:latin typeface="PT Sans Caption" panose="020B0603020203020204" pitchFamily="34" charset="77"/>
              </a:rPr>
            </a:br>
            <a:endParaRPr lang="fr-FR" sz="2000" dirty="0">
              <a:solidFill>
                <a:schemeClr val="bg1"/>
              </a:solidFill>
              <a:latin typeface="PT Sans Caption" panose="020B0603020203020204" pitchFamily="34" charset="77"/>
            </a:endParaRPr>
          </a:p>
          <a:p>
            <a:r>
              <a:rPr lang="fr-FR" sz="2000" b="1" dirty="0">
                <a:solidFill>
                  <a:srgbClr val="F4B183"/>
                </a:solidFill>
                <a:latin typeface="PT Sans Caption" panose="020B0603020203020204" pitchFamily="34" charset="77"/>
              </a:rPr>
              <a:t>Gérer les valeurs manquantes :</a:t>
            </a:r>
            <a:br>
              <a:rPr lang="fr-FR" sz="2000" dirty="0">
                <a:solidFill>
                  <a:schemeClr val="bg1"/>
                </a:solidFill>
                <a:latin typeface="PT Sans Caption" panose="020B0603020203020204" pitchFamily="34" charset="77"/>
              </a:rPr>
            </a:br>
            <a:r>
              <a:rPr lang="fr-FR" sz="2000" dirty="0">
                <a:solidFill>
                  <a:schemeClr val="bg1"/>
                </a:solidFill>
                <a:latin typeface="PT Sans Caption" panose="020B0603020203020204" pitchFamily="34" charset="77"/>
              </a:rPr>
              <a:t>Supprimer les lignes où la variable cible est manquante (</a:t>
            </a:r>
            <a:r>
              <a:rPr lang="fr-FR" sz="2000" dirty="0" err="1">
                <a:solidFill>
                  <a:schemeClr val="bg1"/>
                </a:solidFill>
                <a:latin typeface="PT Sans Caption" panose="020B0603020203020204" pitchFamily="34" charset="77"/>
              </a:rPr>
              <a:t>Weekly_Sales</a:t>
            </a:r>
            <a:r>
              <a:rPr lang="fr-FR" sz="2000" dirty="0">
                <a:solidFill>
                  <a:schemeClr val="bg1"/>
                </a:solidFill>
                <a:latin typeface="PT Sans Caption" panose="020B0603020203020204" pitchFamily="34" charset="77"/>
              </a:rPr>
              <a:t>) :</a:t>
            </a:r>
            <a:br>
              <a:rPr lang="fr-FR" sz="2000" dirty="0">
                <a:solidFill>
                  <a:schemeClr val="bg1"/>
                </a:solidFill>
                <a:latin typeface="PT Sans Caption" panose="020B0603020203020204" pitchFamily="34" charset="77"/>
              </a:rPr>
            </a:br>
            <a:r>
              <a:rPr lang="fr-FR" sz="2000" dirty="0">
                <a:solidFill>
                  <a:schemeClr val="bg1"/>
                </a:solidFill>
                <a:latin typeface="PT Sans Caption" panose="020B0603020203020204" pitchFamily="34" charset="77"/>
              </a:rPr>
              <a:t>On n’impute jamais la variable cible, sinon les prédictions pourraient être biaisées.</a:t>
            </a:r>
            <a:br>
              <a:rPr lang="fr-FR" sz="2000" dirty="0">
                <a:solidFill>
                  <a:schemeClr val="bg1"/>
                </a:solidFill>
                <a:latin typeface="PT Sans Caption" panose="020B0603020203020204" pitchFamily="34" charset="77"/>
              </a:rPr>
            </a:br>
            <a:r>
              <a:rPr lang="fr-FR" sz="2000" dirty="0">
                <a:solidFill>
                  <a:schemeClr val="bg1"/>
                </a:solidFill>
                <a:latin typeface="PT Sans Caption" panose="020B0603020203020204" pitchFamily="34" charset="77"/>
              </a:rPr>
              <a:t>On retire donc simplement ces lignes du dataset.</a:t>
            </a:r>
          </a:p>
        </p:txBody>
      </p:sp>
      <p:pic>
        <p:nvPicPr>
          <p:cNvPr id="9" name="Image 8">
            <a:extLst>
              <a:ext uri="{FF2B5EF4-FFF2-40B4-BE49-F238E27FC236}">
                <a16:creationId xmlns:a16="http://schemas.microsoft.com/office/drawing/2014/main" id="{2BC9F4F1-5430-392D-1C1B-1E30DBE919B1}"/>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2781468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C0EC8-B886-747D-A5D3-CEFA90C7C3C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930347-45D0-E216-65D5-9CB324FD1906}"/>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91A49E6A-3075-A8BE-0E22-FB7D138C69D2}"/>
              </a:ext>
            </a:extLst>
          </p:cNvPr>
          <p:cNvSpPr>
            <a:spLocks noGrp="1"/>
          </p:cNvSpPr>
          <p:nvPr>
            <p:ph idx="1"/>
          </p:nvPr>
        </p:nvSpPr>
        <p:spPr>
          <a:xfrm>
            <a:off x="308471" y="2049137"/>
            <a:ext cx="10675346" cy="4285562"/>
          </a:xfrm>
        </p:spPr>
        <p:txBody>
          <a:bodyPr>
            <a:normAutofit fontScale="92500" lnSpcReduction="20000"/>
          </a:bodyPr>
          <a:lstStyle/>
          <a:p>
            <a:pPr marL="0" indent="0" algn="ctr">
              <a:buNone/>
            </a:pPr>
            <a:r>
              <a:rPr lang="fr-FR" sz="2000" b="1" dirty="0">
                <a:solidFill>
                  <a:srgbClr val="F4B183"/>
                </a:solidFill>
                <a:latin typeface="PT Sans Caption" panose="020B0603020203020204" pitchFamily="34" charset="77"/>
              </a:rPr>
              <a:t>Helpers :</a:t>
            </a:r>
          </a:p>
          <a:p>
            <a:r>
              <a:rPr lang="fr-FR" sz="2000" b="1" dirty="0">
                <a:solidFill>
                  <a:srgbClr val="F4B183"/>
                </a:solidFill>
                <a:latin typeface="PT Sans Caption" panose="020B0603020203020204" pitchFamily="34" charset="77"/>
              </a:rPr>
              <a:t>Création de nouvelles variables:</a:t>
            </a:r>
            <a:br>
              <a:rPr lang="fr-FR" sz="2000" dirty="0">
                <a:solidFill>
                  <a:schemeClr val="bg1"/>
                </a:solidFill>
                <a:latin typeface="PT Sans Caption" panose="020B0603020203020204" pitchFamily="34" charset="77"/>
              </a:rPr>
            </a:br>
            <a:r>
              <a:rPr lang="fr-FR" sz="2000" dirty="0">
                <a:solidFill>
                  <a:schemeClr val="bg1"/>
                </a:solidFill>
                <a:latin typeface="PT Sans Caption" panose="020B0603020203020204" pitchFamily="34" charset="77"/>
              </a:rPr>
              <a:t>La colonne Date ne peut pas être utilisée telle quelle dans le modèle. Options :</a:t>
            </a:r>
          </a:p>
          <a:p>
            <a:pPr lvl="1">
              <a:buFont typeface="Wingdings" pitchFamily="2" charset="2"/>
              <a:buChar char="§"/>
            </a:pPr>
            <a:r>
              <a:rPr lang="fr-FR" sz="1900" dirty="0">
                <a:solidFill>
                  <a:schemeClr val="bg1"/>
                </a:solidFill>
                <a:latin typeface="PT Sans Caption" panose="020B0603020203020204" pitchFamily="34" charset="77"/>
              </a:rPr>
              <a:t> La supprimer, ou</a:t>
            </a:r>
          </a:p>
          <a:p>
            <a:pPr lvl="1">
              <a:buFont typeface="Wingdings" pitchFamily="2" charset="2"/>
              <a:buChar char="§"/>
            </a:pPr>
            <a:r>
              <a:rPr lang="fr-FR" sz="1900" dirty="0">
                <a:solidFill>
                  <a:schemeClr val="bg1"/>
                </a:solidFill>
                <a:latin typeface="PT Sans Caption" panose="020B0603020203020204" pitchFamily="34" charset="77"/>
              </a:rPr>
              <a:t>Créer 4 nouvelles colonnes numériques : </a:t>
            </a:r>
            <a:br>
              <a:rPr lang="fr-FR" sz="1900" dirty="0">
                <a:solidFill>
                  <a:schemeClr val="bg1"/>
                </a:solidFill>
                <a:latin typeface="PT Sans Caption" panose="020B0603020203020204" pitchFamily="34" charset="77"/>
              </a:rPr>
            </a:br>
            <a:r>
              <a:rPr lang="fr-FR" sz="1900" dirty="0">
                <a:solidFill>
                  <a:schemeClr val="bg1"/>
                </a:solidFill>
                <a:latin typeface="PT Sans Caption" panose="020B0603020203020204" pitchFamily="34" charset="77"/>
              </a:rPr>
              <a:t>Année (</a:t>
            </a:r>
            <a:r>
              <a:rPr lang="fr-FR" sz="1900" dirty="0" err="1">
                <a:solidFill>
                  <a:schemeClr val="bg1"/>
                </a:solidFill>
                <a:latin typeface="PT Sans Caption" panose="020B0603020203020204" pitchFamily="34" charset="77"/>
              </a:rPr>
              <a:t>year</a:t>
            </a:r>
            <a:r>
              <a:rPr lang="fr-FR" sz="1900" dirty="0">
                <a:solidFill>
                  <a:schemeClr val="bg1"/>
                </a:solidFill>
                <a:latin typeface="PT Sans Caption" panose="020B0603020203020204" pitchFamily="34" charset="77"/>
              </a:rPr>
              <a:t>) </a:t>
            </a:r>
            <a:br>
              <a:rPr lang="fr-FR" sz="1900" dirty="0">
                <a:solidFill>
                  <a:schemeClr val="bg1"/>
                </a:solidFill>
                <a:latin typeface="PT Sans Caption" panose="020B0603020203020204" pitchFamily="34" charset="77"/>
              </a:rPr>
            </a:br>
            <a:r>
              <a:rPr lang="fr-FR" sz="1900" dirty="0">
                <a:solidFill>
                  <a:schemeClr val="bg1"/>
                </a:solidFill>
                <a:latin typeface="PT Sans Caption" panose="020B0603020203020204" pitchFamily="34" charset="77"/>
              </a:rPr>
              <a:t>Mois (</a:t>
            </a:r>
            <a:r>
              <a:rPr lang="fr-FR" sz="1900" dirty="0" err="1">
                <a:solidFill>
                  <a:schemeClr val="bg1"/>
                </a:solidFill>
                <a:latin typeface="PT Sans Caption" panose="020B0603020203020204" pitchFamily="34" charset="77"/>
              </a:rPr>
              <a:t>month</a:t>
            </a:r>
            <a:r>
              <a:rPr lang="fr-FR" sz="1900" dirty="0">
                <a:solidFill>
                  <a:schemeClr val="bg1"/>
                </a:solidFill>
                <a:latin typeface="PT Sans Caption" panose="020B0603020203020204" pitchFamily="34" charset="77"/>
              </a:rPr>
              <a:t>)</a:t>
            </a:r>
            <a:br>
              <a:rPr lang="fr-FR" sz="1900" dirty="0">
                <a:solidFill>
                  <a:schemeClr val="bg1"/>
                </a:solidFill>
                <a:latin typeface="PT Sans Caption" panose="020B0603020203020204" pitchFamily="34" charset="77"/>
              </a:rPr>
            </a:br>
            <a:r>
              <a:rPr lang="fr-FR" sz="1900" dirty="0">
                <a:solidFill>
                  <a:schemeClr val="bg1"/>
                </a:solidFill>
                <a:latin typeface="PT Sans Caption" panose="020B0603020203020204" pitchFamily="34" charset="77"/>
              </a:rPr>
              <a:t>Jour (</a:t>
            </a:r>
            <a:r>
              <a:rPr lang="fr-FR" sz="1900" dirty="0" err="1">
                <a:solidFill>
                  <a:schemeClr val="bg1"/>
                </a:solidFill>
                <a:latin typeface="PT Sans Caption" panose="020B0603020203020204" pitchFamily="34" charset="77"/>
              </a:rPr>
              <a:t>day</a:t>
            </a:r>
            <a:r>
              <a:rPr lang="fr-FR" sz="1900" dirty="0">
                <a:solidFill>
                  <a:schemeClr val="bg1"/>
                </a:solidFill>
                <a:latin typeface="PT Sans Caption" panose="020B0603020203020204" pitchFamily="34" charset="77"/>
              </a:rPr>
              <a:t>) </a:t>
            </a:r>
            <a:br>
              <a:rPr lang="fr-FR" sz="1900" dirty="0">
                <a:solidFill>
                  <a:schemeClr val="bg1"/>
                </a:solidFill>
                <a:latin typeface="PT Sans Caption" panose="020B0603020203020204" pitchFamily="34" charset="77"/>
              </a:rPr>
            </a:br>
            <a:r>
              <a:rPr lang="fr-FR" sz="1900" dirty="0">
                <a:solidFill>
                  <a:schemeClr val="bg1"/>
                </a:solidFill>
                <a:latin typeface="PT Sans Caption" panose="020B0603020203020204" pitchFamily="34" charset="77"/>
              </a:rPr>
              <a:t>Jour de la semaine (</a:t>
            </a:r>
            <a:r>
              <a:rPr lang="fr-FR" sz="1900" dirty="0" err="1">
                <a:solidFill>
                  <a:schemeClr val="bg1"/>
                </a:solidFill>
                <a:latin typeface="PT Sans Caption" panose="020B0603020203020204" pitchFamily="34" charset="77"/>
              </a:rPr>
              <a:t>day</a:t>
            </a:r>
            <a:r>
              <a:rPr lang="fr-FR" sz="1900" dirty="0">
                <a:solidFill>
                  <a:schemeClr val="bg1"/>
                </a:solidFill>
                <a:latin typeface="PT Sans Caption" panose="020B0603020203020204" pitchFamily="34" charset="77"/>
              </a:rPr>
              <a:t> of </a:t>
            </a:r>
            <a:r>
              <a:rPr lang="fr-FR" sz="1900" dirty="0" err="1">
                <a:solidFill>
                  <a:schemeClr val="bg1"/>
                </a:solidFill>
                <a:latin typeface="PT Sans Caption" panose="020B0603020203020204" pitchFamily="34" charset="77"/>
              </a:rPr>
              <a:t>week</a:t>
            </a:r>
            <a:r>
              <a:rPr lang="fr-FR" sz="1900" dirty="0">
                <a:solidFill>
                  <a:schemeClr val="bg1"/>
                </a:solidFill>
                <a:latin typeface="PT Sans Caption" panose="020B0603020203020204" pitchFamily="34" charset="77"/>
              </a:rPr>
              <a:t>)</a:t>
            </a:r>
          </a:p>
          <a:p>
            <a:pPr lvl="1">
              <a:buFont typeface="Wingdings" pitchFamily="2" charset="2"/>
              <a:buChar char="§"/>
            </a:pPr>
            <a:endParaRPr lang="fr-FR" sz="1900" dirty="0">
              <a:solidFill>
                <a:schemeClr val="bg1"/>
              </a:solidFill>
              <a:latin typeface="PT Sans Caption" panose="020B0603020203020204" pitchFamily="34" charset="77"/>
            </a:endParaRPr>
          </a:p>
          <a:p>
            <a:r>
              <a:rPr lang="fr-FR" sz="2000" b="1" dirty="0">
                <a:solidFill>
                  <a:srgbClr val="F4B183"/>
                </a:solidFill>
                <a:latin typeface="PT Sans Caption" panose="020B0603020203020204" pitchFamily="34" charset="77"/>
              </a:rPr>
              <a:t>Gestion des outliers </a:t>
            </a:r>
            <a:br>
              <a:rPr lang="fr-FR" sz="2000" b="1" dirty="0">
                <a:solidFill>
                  <a:srgbClr val="F4B183"/>
                </a:solidFill>
                <a:latin typeface="PT Sans Caption" panose="020B0603020203020204" pitchFamily="34" charset="77"/>
              </a:rPr>
            </a:br>
            <a:r>
              <a:rPr lang="fr-FR" sz="2000" dirty="0">
                <a:solidFill>
                  <a:schemeClr val="bg1"/>
                </a:solidFill>
                <a:latin typeface="PT Sans Caption" panose="020B0603020203020204" pitchFamily="34" charset="77"/>
              </a:rPr>
              <a:t>Supprimer les lignes contenant des valeurs invalides ou des outliers pour certaines colonnes numériques :</a:t>
            </a:r>
            <a:br>
              <a:rPr lang="fr-FR" sz="2000" dirty="0">
                <a:solidFill>
                  <a:schemeClr val="bg1"/>
                </a:solidFill>
                <a:latin typeface="PT Sans Caption" panose="020B0603020203020204" pitchFamily="34" charset="77"/>
              </a:rPr>
            </a:br>
            <a:br>
              <a:rPr lang="fr-FR" sz="2000" dirty="0">
                <a:solidFill>
                  <a:schemeClr val="bg1"/>
                </a:solidFill>
                <a:latin typeface="PT Sans Caption" panose="020B0603020203020204" pitchFamily="34" charset="77"/>
              </a:rPr>
            </a:br>
            <a:r>
              <a:rPr lang="fr-FR" sz="2000" dirty="0">
                <a:solidFill>
                  <a:schemeClr val="bg1"/>
                </a:solidFill>
                <a:latin typeface="PT Sans Caption" panose="020B0603020203020204" pitchFamily="34" charset="77"/>
              </a:rPr>
              <a:t>On considère comme outliers toutes les valeurs hors de ±3 écarts-types autour de la moyenne.</a:t>
            </a:r>
            <a:br>
              <a:rPr lang="fr-FR" sz="2000" dirty="0">
                <a:solidFill>
                  <a:schemeClr val="bg1"/>
                </a:solidFill>
                <a:latin typeface="PT Sans Caption" panose="020B0603020203020204" pitchFamily="34" charset="77"/>
              </a:rPr>
            </a:br>
            <a:br>
              <a:rPr lang="fr-FR" sz="2000" dirty="0">
                <a:solidFill>
                  <a:schemeClr val="bg1"/>
                </a:solidFill>
                <a:latin typeface="PT Sans Caption" panose="020B0603020203020204" pitchFamily="34" charset="77"/>
              </a:rPr>
            </a:br>
            <a:r>
              <a:rPr lang="fr-FR" sz="2000" dirty="0">
                <a:solidFill>
                  <a:schemeClr val="bg1"/>
                </a:solidFill>
                <a:latin typeface="PT Sans Caption" panose="020B0603020203020204" pitchFamily="34" charset="77"/>
              </a:rPr>
              <a:t>Colonnes concernées : </a:t>
            </a:r>
            <a:r>
              <a:rPr lang="fr-FR" sz="2000" dirty="0" err="1">
                <a:solidFill>
                  <a:schemeClr val="bg1"/>
                </a:solidFill>
                <a:latin typeface="PT Sans Caption" panose="020B0603020203020204" pitchFamily="34" charset="77"/>
              </a:rPr>
              <a:t>Temperature</a:t>
            </a:r>
            <a:r>
              <a:rPr lang="fr-FR" sz="2000" dirty="0">
                <a:solidFill>
                  <a:schemeClr val="bg1"/>
                </a:solidFill>
                <a:latin typeface="PT Sans Caption" panose="020B0603020203020204" pitchFamily="34" charset="77"/>
              </a:rPr>
              <a:t>, </a:t>
            </a:r>
            <a:r>
              <a:rPr lang="fr-FR" sz="2000" dirty="0" err="1">
                <a:solidFill>
                  <a:schemeClr val="bg1"/>
                </a:solidFill>
                <a:latin typeface="PT Sans Caption" panose="020B0603020203020204" pitchFamily="34" charset="77"/>
              </a:rPr>
              <a:t>Fuel_Price</a:t>
            </a:r>
            <a:r>
              <a:rPr lang="fr-FR" sz="2000" dirty="0">
                <a:solidFill>
                  <a:schemeClr val="bg1"/>
                </a:solidFill>
                <a:latin typeface="PT Sans Caption" panose="020B0603020203020204" pitchFamily="34" charset="77"/>
              </a:rPr>
              <a:t>, CPI, </a:t>
            </a:r>
            <a:r>
              <a:rPr lang="fr-FR" sz="2000" dirty="0" err="1">
                <a:solidFill>
                  <a:schemeClr val="bg1"/>
                </a:solidFill>
                <a:latin typeface="PT Sans Caption" panose="020B0603020203020204" pitchFamily="34" charset="77"/>
              </a:rPr>
              <a:t>Unemployment</a:t>
            </a:r>
            <a:endParaRPr lang="fr-FR" sz="2000" dirty="0">
              <a:solidFill>
                <a:schemeClr val="bg1"/>
              </a:solidFill>
              <a:latin typeface="PT Sans Caption" panose="020B0603020203020204" pitchFamily="34" charset="77"/>
            </a:endParaRPr>
          </a:p>
        </p:txBody>
      </p:sp>
      <p:pic>
        <p:nvPicPr>
          <p:cNvPr id="9" name="Image 8">
            <a:extLst>
              <a:ext uri="{FF2B5EF4-FFF2-40B4-BE49-F238E27FC236}">
                <a16:creationId xmlns:a16="http://schemas.microsoft.com/office/drawing/2014/main" id="{3A6B4F44-4B32-AE9C-730C-CEA11D9D27FF}"/>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2110417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1098E-C33C-7474-2F41-5D3BC863C9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2AC65A1-1D10-5A31-CEBC-CAE43B95084F}"/>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4D8805F6-A8B7-E2F0-026A-A896D6DCD46D}"/>
              </a:ext>
            </a:extLst>
          </p:cNvPr>
          <p:cNvSpPr>
            <a:spLocks noGrp="1"/>
          </p:cNvSpPr>
          <p:nvPr>
            <p:ph idx="1"/>
          </p:nvPr>
        </p:nvSpPr>
        <p:spPr>
          <a:xfrm>
            <a:off x="308471" y="2049137"/>
            <a:ext cx="10675346" cy="4285562"/>
          </a:xfrm>
        </p:spPr>
        <p:txBody>
          <a:bodyPr>
            <a:normAutofit/>
          </a:bodyPr>
          <a:lstStyle/>
          <a:p>
            <a:pPr marL="0" indent="0" algn="ctr">
              <a:buNone/>
            </a:pPr>
            <a:r>
              <a:rPr lang="fr-FR" sz="2000" b="1" dirty="0">
                <a:solidFill>
                  <a:srgbClr val="F4B183"/>
                </a:solidFill>
                <a:latin typeface="PT Sans Caption" panose="020B0603020203020204" pitchFamily="34" charset="77"/>
              </a:rPr>
              <a:t>Helpers :</a:t>
            </a:r>
          </a:p>
          <a:p>
            <a:pPr marL="0" indent="0" algn="ctr">
              <a:buNone/>
            </a:pPr>
            <a:endParaRPr lang="fr-FR" sz="2000" b="1" dirty="0">
              <a:solidFill>
                <a:srgbClr val="F4B183"/>
              </a:solidFill>
              <a:latin typeface="PT Sans Caption" panose="020B0603020203020204" pitchFamily="34" charset="77"/>
            </a:endParaRPr>
          </a:p>
          <a:p>
            <a:r>
              <a:rPr lang="fr-FR" sz="2000" b="1" dirty="0">
                <a:solidFill>
                  <a:srgbClr val="F4B183"/>
                </a:solidFill>
                <a:latin typeface="PT Sans Caption" panose="020B0603020203020204" pitchFamily="34" charset="77"/>
              </a:rPr>
              <a:t>Séparation de la variable cible et préparation des variables explicatives</a:t>
            </a:r>
            <a:br>
              <a:rPr lang="fr-FR" sz="2000" b="1" dirty="0">
                <a:solidFill>
                  <a:srgbClr val="F4B183"/>
                </a:solidFill>
                <a:latin typeface="PT Sans Caption" panose="020B0603020203020204" pitchFamily="34" charset="77"/>
              </a:rPr>
            </a:br>
            <a:br>
              <a:rPr lang="fr-FR" sz="2000" b="1" dirty="0">
                <a:solidFill>
                  <a:srgbClr val="F4B183"/>
                </a:solidFill>
                <a:latin typeface="PT Sans Caption" panose="020B0603020203020204" pitchFamily="34" charset="77"/>
              </a:rPr>
            </a:br>
            <a:r>
              <a:rPr lang="fr-FR" sz="2000" dirty="0">
                <a:solidFill>
                  <a:schemeClr val="bg1"/>
                </a:solidFill>
                <a:latin typeface="PT Sans Caption" panose="020B0603020203020204" pitchFamily="34" charset="77"/>
              </a:rPr>
              <a:t>La variable cible (Y) à prédire est : </a:t>
            </a:r>
            <a:r>
              <a:rPr lang="fr-FR" sz="2000" dirty="0" err="1">
                <a:solidFill>
                  <a:schemeClr val="bg1"/>
                </a:solidFill>
                <a:latin typeface="PT Sans Caption" panose="020B0603020203020204" pitchFamily="34" charset="77"/>
              </a:rPr>
              <a:t>Weekly_Sales</a:t>
            </a:r>
            <a:r>
              <a:rPr lang="fr-FR" sz="2000" dirty="0">
                <a:solidFill>
                  <a:schemeClr val="bg1"/>
                </a:solidFill>
                <a:latin typeface="PT Sans Caption" panose="020B0603020203020204" pitchFamily="34" charset="77"/>
              </a:rPr>
              <a:t>.</a:t>
            </a:r>
            <a:br>
              <a:rPr lang="fr-FR" sz="2000" dirty="0">
                <a:solidFill>
                  <a:schemeClr val="bg1"/>
                </a:solidFill>
                <a:latin typeface="PT Sans Caption" panose="020B0603020203020204" pitchFamily="34" charset="77"/>
              </a:rPr>
            </a:br>
            <a:br>
              <a:rPr lang="fr-FR" sz="2000" dirty="0">
                <a:solidFill>
                  <a:schemeClr val="bg1"/>
                </a:solidFill>
                <a:latin typeface="PT Sans Caption" panose="020B0603020203020204" pitchFamily="34" charset="77"/>
              </a:rPr>
            </a:br>
            <a:r>
              <a:rPr lang="fr-FR" sz="2000" dirty="0">
                <a:solidFill>
                  <a:schemeClr val="bg1"/>
                </a:solidFill>
                <a:latin typeface="PT Sans Caption" panose="020B0603020203020204" pitchFamily="34" charset="77"/>
              </a:rPr>
              <a:t>Les variables explicatives (X) doivent être traitées selon leur type :</a:t>
            </a:r>
          </a:p>
          <a:p>
            <a:pPr lvl="1">
              <a:buFont typeface="Wingdings" pitchFamily="2" charset="2"/>
              <a:buChar char="§"/>
            </a:pPr>
            <a:r>
              <a:rPr lang="fr-FR" sz="2000" dirty="0">
                <a:solidFill>
                  <a:schemeClr val="bg1"/>
                </a:solidFill>
                <a:latin typeface="PT Sans Caption" panose="020B0603020203020204" pitchFamily="34" charset="77"/>
              </a:rPr>
              <a:t>Catégorielles : Store, </a:t>
            </a:r>
            <a:r>
              <a:rPr lang="fr-FR" sz="2000" dirty="0" err="1">
                <a:solidFill>
                  <a:schemeClr val="bg1"/>
                </a:solidFill>
                <a:latin typeface="PT Sans Caption" panose="020B0603020203020204" pitchFamily="34" charset="77"/>
              </a:rPr>
              <a:t>Holiday_Flag</a:t>
            </a:r>
            <a:r>
              <a:rPr lang="fr-FR" sz="2000" dirty="0">
                <a:solidFill>
                  <a:schemeClr val="bg1"/>
                </a:solidFill>
                <a:latin typeface="PT Sans Caption" panose="020B0603020203020204" pitchFamily="34" charset="77"/>
              </a:rPr>
              <a:t> → encodage nécessaire</a:t>
            </a:r>
          </a:p>
          <a:p>
            <a:pPr lvl="1">
              <a:buFont typeface="Wingdings" pitchFamily="2" charset="2"/>
              <a:buChar char="§"/>
            </a:pPr>
            <a:r>
              <a:rPr lang="fr-FR" sz="2000" dirty="0">
                <a:solidFill>
                  <a:schemeClr val="bg1"/>
                </a:solidFill>
                <a:latin typeface="PT Sans Caption" panose="020B0603020203020204" pitchFamily="34" charset="77"/>
              </a:rPr>
              <a:t>Numériques : </a:t>
            </a:r>
            <a:r>
              <a:rPr lang="fr-FR" sz="2000" dirty="0" err="1">
                <a:solidFill>
                  <a:schemeClr val="bg1"/>
                </a:solidFill>
                <a:latin typeface="PT Sans Caption" panose="020B0603020203020204" pitchFamily="34" charset="77"/>
              </a:rPr>
              <a:t>Temperature</a:t>
            </a:r>
            <a:r>
              <a:rPr lang="fr-FR" sz="2000" dirty="0">
                <a:solidFill>
                  <a:schemeClr val="bg1"/>
                </a:solidFill>
                <a:latin typeface="PT Sans Caption" panose="020B0603020203020204" pitchFamily="34" charset="77"/>
              </a:rPr>
              <a:t>, </a:t>
            </a:r>
            <a:r>
              <a:rPr lang="fr-FR" sz="2000" dirty="0" err="1">
                <a:solidFill>
                  <a:schemeClr val="bg1"/>
                </a:solidFill>
                <a:latin typeface="PT Sans Caption" panose="020B0603020203020204" pitchFamily="34" charset="77"/>
              </a:rPr>
              <a:t>Fuel_Price</a:t>
            </a:r>
            <a:r>
              <a:rPr lang="fr-FR" sz="2000" dirty="0">
                <a:solidFill>
                  <a:schemeClr val="bg1"/>
                </a:solidFill>
                <a:latin typeface="PT Sans Caption" panose="020B0603020203020204" pitchFamily="34" charset="77"/>
              </a:rPr>
              <a:t>, CPI, </a:t>
            </a:r>
            <a:r>
              <a:rPr lang="fr-FR" sz="2000" dirty="0" err="1">
                <a:solidFill>
                  <a:schemeClr val="bg1"/>
                </a:solidFill>
                <a:latin typeface="PT Sans Caption" panose="020B0603020203020204" pitchFamily="34" charset="77"/>
              </a:rPr>
              <a:t>Unemployment</a:t>
            </a:r>
            <a:r>
              <a:rPr lang="fr-FR" sz="2000" dirty="0">
                <a:solidFill>
                  <a:schemeClr val="bg1"/>
                </a:solidFill>
                <a:latin typeface="PT Sans Caption" panose="020B0603020203020204" pitchFamily="34" charset="77"/>
              </a:rPr>
              <a:t>, </a:t>
            </a:r>
            <a:r>
              <a:rPr lang="fr-FR" sz="2000" dirty="0" err="1">
                <a:solidFill>
                  <a:schemeClr val="bg1"/>
                </a:solidFill>
                <a:latin typeface="PT Sans Caption" panose="020B0603020203020204" pitchFamily="34" charset="77"/>
              </a:rPr>
              <a:t>Year</a:t>
            </a:r>
            <a:r>
              <a:rPr lang="fr-FR" sz="2000" dirty="0">
                <a:solidFill>
                  <a:schemeClr val="bg1"/>
                </a:solidFill>
                <a:latin typeface="PT Sans Caption" panose="020B0603020203020204" pitchFamily="34" charset="77"/>
              </a:rPr>
              <a:t>, </a:t>
            </a:r>
            <a:r>
              <a:rPr lang="fr-FR" sz="2000" dirty="0" err="1">
                <a:solidFill>
                  <a:schemeClr val="bg1"/>
                </a:solidFill>
                <a:latin typeface="PT Sans Caption" panose="020B0603020203020204" pitchFamily="34" charset="77"/>
              </a:rPr>
              <a:t>Month</a:t>
            </a:r>
            <a:r>
              <a:rPr lang="fr-FR" sz="2000" dirty="0">
                <a:solidFill>
                  <a:schemeClr val="bg1"/>
                </a:solidFill>
                <a:latin typeface="PT Sans Caption" panose="020B0603020203020204" pitchFamily="34" charset="77"/>
              </a:rPr>
              <a:t>, Day, </a:t>
            </a:r>
            <a:r>
              <a:rPr lang="fr-FR" sz="2000" dirty="0" err="1">
                <a:solidFill>
                  <a:schemeClr val="bg1"/>
                </a:solidFill>
                <a:latin typeface="PT Sans Caption" panose="020B0603020203020204" pitchFamily="34" charset="77"/>
              </a:rPr>
              <a:t>DayOfWeek</a:t>
            </a:r>
            <a:r>
              <a:rPr lang="fr-FR" sz="2000" dirty="0">
                <a:solidFill>
                  <a:schemeClr val="bg1"/>
                </a:solidFill>
                <a:latin typeface="PT Sans Caption" panose="020B0603020203020204" pitchFamily="34" charset="77"/>
              </a:rPr>
              <a:t> → standardisation ou normalisation possible</a:t>
            </a:r>
          </a:p>
        </p:txBody>
      </p:sp>
      <p:pic>
        <p:nvPicPr>
          <p:cNvPr id="9" name="Image 8">
            <a:extLst>
              <a:ext uri="{FF2B5EF4-FFF2-40B4-BE49-F238E27FC236}">
                <a16:creationId xmlns:a16="http://schemas.microsoft.com/office/drawing/2014/main" id="{25CE28F6-FFEA-163D-373B-9B4DE7633648}"/>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877185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D4856-0E9D-F317-235C-5C0ABF1E72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B23CDA-A69F-5248-F876-1832A80F207A}"/>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ADD5B1CA-B569-B136-3514-A06E12F424E3}"/>
              </a:ext>
            </a:extLst>
          </p:cNvPr>
          <p:cNvSpPr>
            <a:spLocks noGrp="1"/>
          </p:cNvSpPr>
          <p:nvPr>
            <p:ph idx="1"/>
          </p:nvPr>
        </p:nvSpPr>
        <p:spPr>
          <a:xfrm>
            <a:off x="308471" y="2049137"/>
            <a:ext cx="10675346" cy="4285562"/>
          </a:xfrm>
        </p:spPr>
        <p:txBody>
          <a:bodyPr>
            <a:normAutofit fontScale="92500" lnSpcReduction="10000"/>
          </a:bodyPr>
          <a:lstStyle/>
          <a:p>
            <a:pPr marL="0" indent="0" algn="ctr">
              <a:buNone/>
            </a:pPr>
            <a:r>
              <a:rPr lang="fr-FR" sz="2000" b="1" dirty="0">
                <a:solidFill>
                  <a:srgbClr val="F4B183"/>
                </a:solidFill>
                <a:latin typeface="PT Sans Caption" panose="020B0603020203020204" pitchFamily="34" charset="77"/>
              </a:rPr>
              <a:t>Helpers :</a:t>
            </a:r>
          </a:p>
          <a:p>
            <a:pPr marL="0" indent="0" algn="ctr">
              <a:buNone/>
            </a:pPr>
            <a:endParaRPr lang="fr-FR" sz="2000" b="1" dirty="0">
              <a:solidFill>
                <a:srgbClr val="F4B183"/>
              </a:solidFill>
              <a:latin typeface="PT Sans Caption" panose="020B0603020203020204" pitchFamily="34" charset="77"/>
            </a:endParaRPr>
          </a:p>
          <a:p>
            <a:pPr marL="0" indent="0">
              <a:buNone/>
            </a:pPr>
            <a:r>
              <a:rPr lang="fr-FR" sz="2000" u="sng" dirty="0">
                <a:solidFill>
                  <a:schemeClr val="bg1"/>
                </a:solidFill>
                <a:latin typeface="PT Sans Caption" panose="020B0603020203020204" pitchFamily="34" charset="77"/>
              </a:rPr>
              <a:t>Partie 2 : Baseline model (régression linéaire)</a:t>
            </a:r>
          </a:p>
          <a:p>
            <a:pPr marL="0" indent="0">
              <a:buNone/>
            </a:pPr>
            <a:endParaRPr lang="fr-FR" sz="2000" u="sng" dirty="0">
              <a:solidFill>
                <a:schemeClr val="bg1"/>
              </a:solidFill>
              <a:latin typeface="PT Sans Caption" panose="020B0603020203020204" pitchFamily="34" charset="77"/>
            </a:endParaRPr>
          </a:p>
          <a:p>
            <a:pPr marL="0" indent="0">
              <a:buNone/>
            </a:pPr>
            <a:r>
              <a:rPr lang="fr-FR" sz="2000" dirty="0">
                <a:solidFill>
                  <a:schemeClr val="bg1"/>
                </a:solidFill>
                <a:latin typeface="PT Sans Caption" panose="020B0603020203020204" pitchFamily="34" charset="77"/>
              </a:rPr>
              <a:t>Après avoir entraîné votre premier modèle de régression linéaire, il est important de :</a:t>
            </a:r>
          </a:p>
          <a:p>
            <a:pPr marL="457200" indent="-457200">
              <a:buFont typeface="+mj-lt"/>
              <a:buAutoNum type="arabicPeriod"/>
            </a:pPr>
            <a:r>
              <a:rPr lang="fr-FR" sz="2000" dirty="0">
                <a:solidFill>
                  <a:schemeClr val="bg1"/>
                </a:solidFill>
                <a:latin typeface="PT Sans Caption" panose="020B0603020203020204" pitchFamily="34" charset="77"/>
              </a:rPr>
              <a:t>Évaluer les performances sur les ensembles d’entraînement et de test pour vérifier si les résultats sont satisfaisants.</a:t>
            </a:r>
          </a:p>
          <a:p>
            <a:pPr marL="457200" indent="-457200">
              <a:buFont typeface="+mj-lt"/>
              <a:buAutoNum type="arabicPeriod"/>
            </a:pPr>
            <a:r>
              <a:rPr lang="fr-FR" sz="2000" dirty="0">
                <a:solidFill>
                  <a:schemeClr val="bg1"/>
                </a:solidFill>
                <a:latin typeface="PT Sans Caption" panose="020B0603020203020204" pitchFamily="34" charset="77"/>
              </a:rPr>
              <a:t>Analyser les coefficients du modèle pour savoir quelles variables ont le plus d’influence sur la prédiction.</a:t>
            </a:r>
          </a:p>
          <a:p>
            <a:pPr marL="0" indent="0">
              <a:buNone/>
            </a:pPr>
            <a:r>
              <a:rPr lang="fr-FR" sz="2000" dirty="0">
                <a:solidFill>
                  <a:schemeClr val="bg1"/>
                </a:solidFill>
                <a:latin typeface="PT Sans Caption" panose="020B0603020203020204" pitchFamily="34" charset="77"/>
              </a:rPr>
              <a:t>Dans </a:t>
            </a:r>
            <a:r>
              <a:rPr lang="fr-FR" sz="2000" dirty="0" err="1">
                <a:solidFill>
                  <a:schemeClr val="bg1"/>
                </a:solidFill>
                <a:latin typeface="PT Sans Caption" panose="020B0603020203020204" pitchFamily="34" charset="77"/>
              </a:rPr>
              <a:t>scikit-learn</a:t>
            </a:r>
            <a:r>
              <a:rPr lang="fr-FR" sz="2000" dirty="0">
                <a:solidFill>
                  <a:schemeClr val="bg1"/>
                </a:solidFill>
                <a:latin typeface="PT Sans Caption" panose="020B0603020203020204" pitchFamily="34" charset="77"/>
              </a:rPr>
              <a:t>, on peut utiliser l’attribut .coef_ de la classe </a:t>
            </a:r>
            <a:r>
              <a:rPr lang="fr-FR" sz="2000" dirty="0" err="1">
                <a:solidFill>
                  <a:schemeClr val="bg1"/>
                </a:solidFill>
                <a:latin typeface="PT Sans Caption" panose="020B0603020203020204" pitchFamily="34" charset="77"/>
              </a:rPr>
              <a:t>LinearRegression</a:t>
            </a:r>
            <a:r>
              <a:rPr lang="fr-FR" sz="2000" dirty="0">
                <a:solidFill>
                  <a:schemeClr val="bg1"/>
                </a:solidFill>
                <a:latin typeface="PT Sans Caption" panose="020B0603020203020204" pitchFamily="34" charset="77"/>
              </a:rPr>
              <a:t> pour accéder à ces coefficients.</a:t>
            </a:r>
            <a:br>
              <a:rPr lang="fr-FR" sz="2000" dirty="0">
                <a:solidFill>
                  <a:schemeClr val="bg1"/>
                </a:solidFill>
                <a:latin typeface="PT Sans Caption" panose="020B0603020203020204" pitchFamily="34" charset="77"/>
              </a:rPr>
            </a:br>
            <a:r>
              <a:rPr lang="fr-FR" sz="2000" dirty="0">
                <a:solidFill>
                  <a:srgbClr val="F4B183"/>
                </a:solidFill>
                <a:latin typeface="PT Sans Caption" panose="020B0603020203020204" pitchFamily="34" charset="77"/>
              </a:rPr>
              <a:t> </a:t>
            </a:r>
            <a:r>
              <a:rPr lang="fr-FR" sz="2000" u="sng" dirty="0">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https://scikit-learn.org/stable/modules/generated/sklearn.linear_model.LinearRegression.html</a:t>
            </a:r>
            <a:endParaRPr lang="fr-FR" sz="2000" dirty="0">
              <a:solidFill>
                <a:srgbClr val="F4B183"/>
              </a:solidFill>
              <a:latin typeface="PT Sans Caption" panose="020B0603020203020204" pitchFamily="34" charset="77"/>
            </a:endParaRPr>
          </a:p>
        </p:txBody>
      </p:sp>
      <p:pic>
        <p:nvPicPr>
          <p:cNvPr id="9" name="Image 8">
            <a:extLst>
              <a:ext uri="{FF2B5EF4-FFF2-40B4-BE49-F238E27FC236}">
                <a16:creationId xmlns:a16="http://schemas.microsoft.com/office/drawing/2014/main" id="{5AF5097C-7FA7-6D13-201B-3B27C9648C35}"/>
              </a:ext>
            </a:extLst>
          </p:cNvPr>
          <p:cNvPicPr>
            <a:picLocks noChangeAspect="1"/>
          </p:cNvPicPr>
          <p:nvPr/>
        </p:nvPicPr>
        <p:blipFill>
          <a:blip r:embed="rId4"/>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9743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B6825-DB93-2DA6-7A62-051A04D849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F49EB41-6D16-6BA8-8B6B-39E5E26BD35D}"/>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6DF5E5D7-3E7C-D5B1-8C89-4BF47F400BBB}"/>
              </a:ext>
            </a:extLst>
          </p:cNvPr>
          <p:cNvSpPr>
            <a:spLocks noGrp="1"/>
          </p:cNvSpPr>
          <p:nvPr>
            <p:ph idx="1"/>
          </p:nvPr>
        </p:nvSpPr>
        <p:spPr>
          <a:xfrm>
            <a:off x="308471" y="2049137"/>
            <a:ext cx="10675346" cy="4285562"/>
          </a:xfrm>
        </p:spPr>
        <p:txBody>
          <a:bodyPr>
            <a:normAutofit fontScale="92500" lnSpcReduction="10000"/>
          </a:bodyPr>
          <a:lstStyle/>
          <a:p>
            <a:pPr marL="0" indent="0" algn="ctr">
              <a:buNone/>
            </a:pPr>
            <a:r>
              <a:rPr lang="fr-FR" sz="2000" b="1" dirty="0">
                <a:solidFill>
                  <a:srgbClr val="F4B183"/>
                </a:solidFill>
                <a:latin typeface="PT Sans Caption" panose="020B0603020203020204" pitchFamily="34" charset="77"/>
              </a:rPr>
              <a:t>Helpers :</a:t>
            </a:r>
          </a:p>
          <a:p>
            <a:pPr marL="0" indent="0" algn="ctr">
              <a:buNone/>
            </a:pPr>
            <a:endParaRPr lang="fr-FR" sz="2000" b="1" dirty="0">
              <a:solidFill>
                <a:srgbClr val="F4B183"/>
              </a:solidFill>
              <a:latin typeface="PT Sans Caption" panose="020B0603020203020204" pitchFamily="34" charset="77"/>
            </a:endParaRPr>
          </a:p>
          <a:p>
            <a:pPr marL="0" indent="0">
              <a:buNone/>
            </a:pPr>
            <a:r>
              <a:rPr lang="fr-FR" sz="2000" u="sng" dirty="0">
                <a:solidFill>
                  <a:schemeClr val="bg1"/>
                </a:solidFill>
                <a:latin typeface="PT Sans Caption" panose="020B0603020203020204" pitchFamily="34" charset="77"/>
              </a:rPr>
              <a:t>Partie 3 : Réduction du surapprentissage (</a:t>
            </a:r>
            <a:r>
              <a:rPr lang="fr-FR" sz="2000" u="sng" dirty="0" err="1">
                <a:solidFill>
                  <a:schemeClr val="bg1"/>
                </a:solidFill>
                <a:latin typeface="PT Sans Caption" panose="020B0603020203020204" pitchFamily="34" charset="77"/>
              </a:rPr>
              <a:t>overfitting</a:t>
            </a:r>
            <a:r>
              <a:rPr lang="fr-FR" sz="2000" u="sng" dirty="0">
                <a:solidFill>
                  <a:schemeClr val="bg1"/>
                </a:solidFill>
                <a:latin typeface="PT Sans Caption" panose="020B0603020203020204" pitchFamily="34" charset="77"/>
              </a:rPr>
              <a:t>)</a:t>
            </a:r>
          </a:p>
          <a:p>
            <a:pPr marL="0" indent="0">
              <a:buNone/>
            </a:pPr>
            <a:endParaRPr lang="fr-FR" sz="2000" dirty="0">
              <a:solidFill>
                <a:schemeClr val="bg1"/>
              </a:solidFill>
              <a:latin typeface="PT Sans Caption" panose="020B0603020203020204" pitchFamily="34" charset="77"/>
            </a:endParaRPr>
          </a:p>
          <a:p>
            <a:pPr marL="0" indent="0">
              <a:buNone/>
            </a:pPr>
            <a:r>
              <a:rPr lang="fr-FR" sz="2000" dirty="0">
                <a:solidFill>
                  <a:schemeClr val="bg1"/>
                </a:solidFill>
                <a:latin typeface="PT Sans Caption" panose="020B0603020203020204" pitchFamily="34" charset="77"/>
              </a:rPr>
              <a:t>Dans cette dernière étape, il faudra entraîner un modèle de régression linéaire régularisé pour éviter le surapprentissage et améliorer la robustesse des prédictions.</a:t>
            </a:r>
          </a:p>
          <a:p>
            <a:pPr marL="0" indent="0">
              <a:buNone/>
            </a:pPr>
            <a:r>
              <a:rPr lang="fr-FR" sz="2000" dirty="0">
                <a:solidFill>
                  <a:schemeClr val="bg1"/>
                </a:solidFill>
                <a:latin typeface="PT Sans Caption" panose="020B0603020203020204" pitchFamily="34" charset="77"/>
              </a:rPr>
              <a:t>On peut utiliser deux types de régularisation dans </a:t>
            </a:r>
            <a:r>
              <a:rPr lang="fr-FR" sz="2000" dirty="0" err="1">
                <a:solidFill>
                  <a:schemeClr val="bg1"/>
                </a:solidFill>
                <a:latin typeface="PT Sans Caption" panose="020B0603020203020204" pitchFamily="34" charset="77"/>
              </a:rPr>
              <a:t>scikit-learn</a:t>
            </a:r>
            <a:r>
              <a:rPr lang="fr-FR" sz="2000" dirty="0">
                <a:solidFill>
                  <a:schemeClr val="bg1"/>
                </a:solidFill>
                <a:latin typeface="PT Sans Caption" panose="020B0603020203020204" pitchFamily="34" charset="77"/>
              </a:rPr>
              <a:t> :</a:t>
            </a:r>
          </a:p>
          <a:p>
            <a:r>
              <a:rPr lang="fr-FR" sz="2000" dirty="0">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Ridge</a:t>
            </a:r>
            <a:r>
              <a:rPr lang="fr-FR" sz="2000" dirty="0">
                <a:solidFill>
                  <a:schemeClr val="bg1"/>
                </a:solidFill>
                <a:latin typeface="PT Sans Caption" panose="020B0603020203020204" pitchFamily="34" charset="77"/>
              </a:rPr>
              <a:t> : régularisation L2</a:t>
            </a:r>
          </a:p>
          <a:p>
            <a:r>
              <a:rPr lang="fr-FR" sz="2000" dirty="0">
                <a:solidFill>
                  <a:srgbClr val="F4B183"/>
                </a:solidFill>
                <a:latin typeface="PT Sans Caption" panose="020B0603020203020204" pitchFamily="34" charset="77"/>
                <a:hlinkClick r:id="rId4">
                  <a:extLst>
                    <a:ext uri="{A12FA001-AC4F-418D-AE19-62706E023703}">
                      <ahyp:hlinkClr xmlns:ahyp="http://schemas.microsoft.com/office/drawing/2018/hyperlinkcolor" val="tx"/>
                    </a:ext>
                  </a:extLst>
                </a:hlinkClick>
              </a:rPr>
              <a:t>Lasso</a:t>
            </a:r>
            <a:r>
              <a:rPr lang="fr-FR" sz="2000" dirty="0">
                <a:solidFill>
                  <a:schemeClr val="bg1"/>
                </a:solidFill>
                <a:latin typeface="PT Sans Caption" panose="020B0603020203020204" pitchFamily="34" charset="77"/>
              </a:rPr>
              <a:t> : régularisation L1</a:t>
            </a:r>
          </a:p>
          <a:p>
            <a:pPr marL="0" indent="0">
              <a:buNone/>
            </a:pPr>
            <a:r>
              <a:rPr lang="fr-FR" sz="2000" dirty="0">
                <a:solidFill>
                  <a:schemeClr val="bg1"/>
                </a:solidFill>
                <a:latin typeface="PT Sans Caption" panose="020B0603020203020204" pitchFamily="34" charset="77"/>
              </a:rPr>
              <a:t>Ces modèles ajoutent une pénalité sur la taille des coefficients, ce qui permet de :</a:t>
            </a:r>
          </a:p>
          <a:p>
            <a:r>
              <a:rPr lang="fr-FR" sz="2000" dirty="0">
                <a:solidFill>
                  <a:schemeClr val="bg1"/>
                </a:solidFill>
                <a:latin typeface="PT Sans Caption" panose="020B0603020203020204" pitchFamily="34" charset="77"/>
              </a:rPr>
              <a:t>Réduire l’influence des variables moins importantes</a:t>
            </a:r>
          </a:p>
          <a:p>
            <a:r>
              <a:rPr lang="fr-FR" sz="2000" dirty="0">
                <a:solidFill>
                  <a:schemeClr val="bg1"/>
                </a:solidFill>
                <a:latin typeface="PT Sans Caption" panose="020B0603020203020204" pitchFamily="34" charset="77"/>
              </a:rPr>
              <a:t>Limiter l’</a:t>
            </a:r>
            <a:r>
              <a:rPr lang="fr-FR" sz="2000" dirty="0" err="1">
                <a:solidFill>
                  <a:schemeClr val="bg1"/>
                </a:solidFill>
                <a:latin typeface="PT Sans Caption" panose="020B0603020203020204" pitchFamily="34" charset="77"/>
              </a:rPr>
              <a:t>overfitting</a:t>
            </a:r>
            <a:r>
              <a:rPr lang="fr-FR" sz="2000" dirty="0">
                <a:solidFill>
                  <a:schemeClr val="bg1"/>
                </a:solidFill>
                <a:latin typeface="PT Sans Caption" panose="020B0603020203020204" pitchFamily="34" charset="77"/>
              </a:rPr>
              <a:t> sur le dataset d’entraînement</a:t>
            </a:r>
          </a:p>
          <a:p>
            <a:endParaRPr lang="fr-FR" sz="2000" dirty="0">
              <a:solidFill>
                <a:schemeClr val="bg1"/>
              </a:solidFill>
              <a:latin typeface="PT Sans Caption" panose="020B0603020203020204" pitchFamily="34" charset="77"/>
            </a:endParaRPr>
          </a:p>
        </p:txBody>
      </p:sp>
      <p:pic>
        <p:nvPicPr>
          <p:cNvPr id="9" name="Image 8">
            <a:extLst>
              <a:ext uri="{FF2B5EF4-FFF2-40B4-BE49-F238E27FC236}">
                <a16:creationId xmlns:a16="http://schemas.microsoft.com/office/drawing/2014/main" id="{FF5B3CBD-DA62-0E59-3BE5-0366A7C65300}"/>
              </a:ext>
            </a:extLst>
          </p:cNvPr>
          <p:cNvPicPr>
            <a:picLocks noChangeAspect="1"/>
          </p:cNvPicPr>
          <p:nvPr/>
        </p:nvPicPr>
        <p:blipFill>
          <a:blip r:embed="rId5"/>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4120066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60307-1F3A-56C8-3088-6459484ECD9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1ACA09-1601-A0FA-73C1-677CBD7C7F1F}"/>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Walmart </a:t>
            </a:r>
            <a:r>
              <a:rPr lang="fr-FR" sz="3200" b="1" dirty="0" err="1">
                <a:solidFill>
                  <a:schemeClr val="bg1"/>
                </a:solidFill>
                <a:latin typeface="PT Sans Caption" panose="020B0603020203020204" pitchFamily="34" charset="77"/>
              </a:rPr>
              <a:t>Predict</a:t>
            </a:r>
            <a:r>
              <a:rPr lang="fr-FR" sz="3200" b="1" dirty="0">
                <a:solidFill>
                  <a:schemeClr val="bg1"/>
                </a:solidFill>
                <a:latin typeface="PT Sans Caption" panose="020B0603020203020204" pitchFamily="34" charset="77"/>
              </a:rPr>
              <a:t> Weekly Sales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A0951C96-D4EB-56E7-5164-48B4E8C68753}"/>
              </a:ext>
            </a:extLst>
          </p:cNvPr>
          <p:cNvSpPr>
            <a:spLocks noGrp="1"/>
          </p:cNvSpPr>
          <p:nvPr>
            <p:ph idx="1"/>
          </p:nvPr>
        </p:nvSpPr>
        <p:spPr>
          <a:xfrm>
            <a:off x="308471" y="2049137"/>
            <a:ext cx="10675346" cy="4285562"/>
          </a:xfrm>
        </p:spPr>
        <p:txBody>
          <a:bodyPr>
            <a:normAutofit fontScale="85000" lnSpcReduction="10000"/>
          </a:bodyPr>
          <a:lstStyle/>
          <a:p>
            <a:pPr marL="0" indent="0" algn="ctr">
              <a:buNone/>
            </a:pPr>
            <a:r>
              <a:rPr lang="fr-FR" sz="2000" b="1" dirty="0">
                <a:solidFill>
                  <a:srgbClr val="F4B183"/>
                </a:solidFill>
                <a:latin typeface="PT Sans Caption" panose="020B0603020203020204" pitchFamily="34" charset="77"/>
              </a:rPr>
              <a:t>Helpers :</a:t>
            </a:r>
          </a:p>
          <a:p>
            <a:pPr marL="0" indent="0" algn="ctr">
              <a:buNone/>
            </a:pPr>
            <a:endParaRPr lang="fr-FR" sz="2000" b="1" dirty="0">
              <a:solidFill>
                <a:srgbClr val="F4B183"/>
              </a:solidFill>
              <a:latin typeface="PT Sans Caption" panose="020B0603020203020204" pitchFamily="34" charset="77"/>
            </a:endParaRPr>
          </a:p>
          <a:p>
            <a:pPr marL="0" indent="0">
              <a:buNone/>
            </a:pPr>
            <a:r>
              <a:rPr lang="fr-FR" sz="2000" u="sng" dirty="0">
                <a:solidFill>
                  <a:schemeClr val="bg1"/>
                </a:solidFill>
                <a:latin typeface="PT Sans Caption" panose="020B0603020203020204" pitchFamily="34" charset="77"/>
              </a:rPr>
              <a:t>Bonus – Ajustement des hyperparamètres</a:t>
            </a:r>
          </a:p>
          <a:p>
            <a:pPr marL="0" indent="0">
              <a:buNone/>
            </a:pPr>
            <a:endParaRPr lang="fr-FR" sz="2000" dirty="0">
              <a:solidFill>
                <a:schemeClr val="bg1"/>
              </a:solidFill>
              <a:latin typeface="PT Sans Caption" panose="020B0603020203020204" pitchFamily="34" charset="77"/>
            </a:endParaRPr>
          </a:p>
          <a:p>
            <a:pPr marL="0" indent="0">
              <a:buNone/>
            </a:pPr>
            <a:r>
              <a:rPr lang="fr-FR" sz="2000" dirty="0">
                <a:solidFill>
                  <a:schemeClr val="bg1"/>
                </a:solidFill>
                <a:latin typeface="PT Sans Caption" panose="020B0603020203020204" pitchFamily="34" charset="77"/>
              </a:rPr>
              <a:t>Dans les modèles de régression régularisée, il existe un hyperparamètre appelé </a:t>
            </a:r>
            <a:r>
              <a:rPr lang="fr-FR" sz="2000" dirty="0" err="1">
                <a:solidFill>
                  <a:schemeClr val="bg1"/>
                </a:solidFill>
                <a:latin typeface="PT Sans Caption" panose="020B0603020203020204" pitchFamily="34" charset="77"/>
              </a:rPr>
              <a:t>regularization</a:t>
            </a:r>
            <a:r>
              <a:rPr lang="fr-FR" sz="2000" dirty="0">
                <a:solidFill>
                  <a:schemeClr val="bg1"/>
                </a:solidFill>
                <a:latin typeface="PT Sans Caption" panose="020B0603020203020204" pitchFamily="34" charset="77"/>
              </a:rPr>
              <a:t> </a:t>
            </a:r>
            <a:r>
              <a:rPr lang="fr-FR" sz="2000" dirty="0" err="1">
                <a:solidFill>
                  <a:schemeClr val="bg1"/>
                </a:solidFill>
                <a:latin typeface="PT Sans Caption" panose="020B0603020203020204" pitchFamily="34" charset="77"/>
              </a:rPr>
              <a:t>strength</a:t>
            </a:r>
            <a:r>
              <a:rPr lang="fr-FR" sz="2000" dirty="0">
                <a:solidFill>
                  <a:schemeClr val="bg1"/>
                </a:solidFill>
                <a:latin typeface="PT Sans Caption" panose="020B0603020203020204" pitchFamily="34" charset="77"/>
              </a:rPr>
              <a:t> (force de régularisation).</a:t>
            </a:r>
          </a:p>
          <a:p>
            <a:pPr marL="0" indent="0">
              <a:buNone/>
            </a:pPr>
            <a:r>
              <a:rPr lang="fr-FR" sz="2000" dirty="0">
                <a:solidFill>
                  <a:schemeClr val="bg1"/>
                </a:solidFill>
                <a:latin typeface="PT Sans Caption" panose="020B0603020203020204" pitchFamily="34" charset="77"/>
              </a:rPr>
              <a:t>Il permet de contrôler l’intensité de la pénalité sur les coefficients et d’obtenir les meilleures prédictions généralisées.</a:t>
            </a:r>
          </a:p>
          <a:p>
            <a:pPr marL="0" indent="0">
              <a:buNone/>
            </a:pPr>
            <a:r>
              <a:rPr lang="fr-FR" sz="2000" dirty="0">
                <a:solidFill>
                  <a:schemeClr val="bg1"/>
                </a:solidFill>
                <a:latin typeface="PT Sans Caption" panose="020B0603020203020204" pitchFamily="34" charset="77"/>
              </a:rPr>
              <a:t>Pour ajuster cet hyperparamètre automatiquement, on peut utiliser </a:t>
            </a:r>
            <a:r>
              <a:rPr lang="fr-FR" sz="2000" dirty="0" err="1">
                <a:solidFill>
                  <a:schemeClr val="bg1"/>
                </a:solidFill>
                <a:latin typeface="PT Sans Caption" panose="020B0603020203020204" pitchFamily="34" charset="77"/>
              </a:rPr>
              <a:t>GridSearchCV</a:t>
            </a:r>
            <a:r>
              <a:rPr lang="fr-FR" sz="2000" dirty="0">
                <a:solidFill>
                  <a:schemeClr val="bg1"/>
                </a:solidFill>
                <a:latin typeface="PT Sans Caption" panose="020B0603020203020204" pitchFamily="34" charset="77"/>
              </a:rPr>
              <a:t> de </a:t>
            </a:r>
            <a:r>
              <a:rPr lang="fr-FR" sz="2000" dirty="0" err="1">
                <a:solidFill>
                  <a:schemeClr val="bg1"/>
                </a:solidFill>
                <a:latin typeface="PT Sans Caption" panose="020B0603020203020204" pitchFamily="34" charset="77"/>
              </a:rPr>
              <a:t>scikit-learn</a:t>
            </a:r>
            <a:r>
              <a:rPr lang="fr-FR" sz="2000" dirty="0">
                <a:solidFill>
                  <a:schemeClr val="bg1"/>
                </a:solidFill>
                <a:latin typeface="PT Sans Caption" panose="020B0603020203020204" pitchFamily="34" charset="77"/>
              </a:rPr>
              <a:t>.</a:t>
            </a:r>
          </a:p>
          <a:p>
            <a:pPr marL="0" indent="0">
              <a:buNone/>
            </a:pPr>
            <a:r>
              <a:rPr lang="fr-FR" sz="2000" dirty="0">
                <a:solidFill>
                  <a:schemeClr val="bg1"/>
                </a:solidFill>
                <a:latin typeface="PT Sans Caption" panose="020B0603020203020204" pitchFamily="34" charset="77"/>
              </a:rPr>
              <a:t>Il teste plusieurs valeurs et sélectionne celle qui optimise la performance du modèle.</a:t>
            </a:r>
          </a:p>
          <a:p>
            <a:pPr marL="0" indent="0">
              <a:buNone/>
            </a:pPr>
            <a:r>
              <a:rPr lang="fr-FR" sz="2000" dirty="0">
                <a:solidFill>
                  <a:schemeClr val="bg1"/>
                </a:solidFill>
                <a:latin typeface="PT Sans Caption" panose="020B0603020203020204" pitchFamily="34" charset="77"/>
              </a:rPr>
              <a:t>Exemples d’utilisation de </a:t>
            </a:r>
            <a:r>
              <a:rPr lang="fr-FR" sz="2000" dirty="0" err="1">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GridSearchCV</a:t>
            </a:r>
            <a:r>
              <a:rPr lang="fr-FR" sz="2000" dirty="0">
                <a:solidFill>
                  <a:schemeClr val="bg1"/>
                </a:solidFill>
                <a:latin typeface="PT Sans Caption" panose="020B0603020203020204" pitchFamily="34" charset="77"/>
              </a:rPr>
              <a:t> avec Ridge ou Lasso :</a:t>
            </a:r>
          </a:p>
          <a:p>
            <a:r>
              <a:rPr lang="fr-FR" sz="2000" dirty="0">
                <a:solidFill>
                  <a:srgbClr val="F4B183"/>
                </a:solidFill>
                <a:latin typeface="PT Sans Caption" panose="020B0603020203020204" pitchFamily="34" charset="77"/>
                <a:hlinkClick r:id="rId4">
                  <a:extLst>
                    <a:ext uri="{A12FA001-AC4F-418D-AE19-62706E023703}">
                      <ahyp:hlinkClr xmlns:ahyp="http://schemas.microsoft.com/office/drawing/2018/hyperlinkcolor" val="tx"/>
                    </a:ext>
                  </a:extLst>
                </a:hlinkClick>
              </a:rPr>
              <a:t>Exemples</a:t>
            </a:r>
            <a:endParaRPr lang="fr-FR" sz="2000" dirty="0">
              <a:solidFill>
                <a:srgbClr val="F4B183"/>
              </a:solidFill>
              <a:latin typeface="PT Sans Caption" panose="020B0603020203020204" pitchFamily="34" charset="77"/>
            </a:endParaRPr>
          </a:p>
          <a:p>
            <a:pPr marL="0" indent="0">
              <a:buNone/>
            </a:pPr>
            <a:r>
              <a:rPr lang="fr-FR" sz="2000" dirty="0">
                <a:solidFill>
                  <a:schemeClr val="bg1"/>
                </a:solidFill>
                <a:latin typeface="PT Sans Caption" panose="020B0603020203020204" pitchFamily="34" charset="77"/>
              </a:rPr>
              <a:t>Cette étape permet de rendre votre modèle plus performant et fiable sur de nouvelles données.</a:t>
            </a:r>
          </a:p>
        </p:txBody>
      </p:sp>
      <p:pic>
        <p:nvPicPr>
          <p:cNvPr id="9" name="Image 8">
            <a:extLst>
              <a:ext uri="{FF2B5EF4-FFF2-40B4-BE49-F238E27FC236}">
                <a16:creationId xmlns:a16="http://schemas.microsoft.com/office/drawing/2014/main" id="{90BDEE93-4A3D-396F-AE63-C3CB3E3B26EF}"/>
              </a:ext>
            </a:extLst>
          </p:cNvPr>
          <p:cNvPicPr>
            <a:picLocks noChangeAspect="1"/>
          </p:cNvPicPr>
          <p:nvPr/>
        </p:nvPicPr>
        <p:blipFill>
          <a:blip r:embed="rId5"/>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569877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0F38A-0531-5E67-22E1-44AF8B8FDE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4DC0AA-75E6-BD62-FEF7-E75D06DB24EC}"/>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Conversion Rate </a:t>
            </a:r>
            <a:r>
              <a:rPr lang="fr-FR" sz="3200" b="1" dirty="0" err="1">
                <a:solidFill>
                  <a:schemeClr val="bg1"/>
                </a:solidFill>
                <a:latin typeface="PT Sans Caption" panose="020B0603020203020204" pitchFamily="34" charset="77"/>
              </a:rPr>
              <a:t>Prediction</a:t>
            </a:r>
            <a:r>
              <a:rPr lang="fr-FR" sz="3200" b="1" dirty="0">
                <a:solidFill>
                  <a:schemeClr val="bg1"/>
                </a:solidFill>
                <a:latin typeface="PT Sans Caption" panose="020B0603020203020204" pitchFamily="34" charset="77"/>
              </a:rPr>
              <a:t>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0EDB893A-AB32-D94F-643B-C633C2701ADC}"/>
              </a:ext>
            </a:extLst>
          </p:cNvPr>
          <p:cNvSpPr>
            <a:spLocks noGrp="1"/>
          </p:cNvSpPr>
          <p:nvPr>
            <p:ph idx="1"/>
          </p:nvPr>
        </p:nvSpPr>
        <p:spPr>
          <a:xfrm>
            <a:off x="2954215" y="2461356"/>
            <a:ext cx="8029602" cy="3427376"/>
          </a:xfrm>
        </p:spPr>
        <p:txBody>
          <a:bodyPr>
            <a:normAutofit fontScale="85000" lnSpcReduction="10000"/>
          </a:bodyPr>
          <a:lstStyle/>
          <a:p>
            <a:pPr marL="0" indent="0">
              <a:buNone/>
            </a:pPr>
            <a:endParaRPr lang="fr-FR" sz="2000" dirty="0">
              <a:solidFill>
                <a:schemeClr val="bg1"/>
              </a:solidFill>
              <a:latin typeface="PT Sans Caption" panose="020B0603020203020204" pitchFamily="34" charset="77"/>
            </a:endParaRPr>
          </a:p>
          <a:p>
            <a:pPr marL="0" indent="0">
              <a:buNone/>
            </a:pPr>
            <a:r>
              <a:rPr lang="fr-FR" sz="2000" dirty="0">
                <a:solidFill>
                  <a:schemeClr val="bg1"/>
                </a:solidFill>
                <a:latin typeface="PT Sans Caption" panose="020B0603020203020204" pitchFamily="34" charset="77"/>
              </a:rPr>
              <a:t>Dans ce projet, vous participerez à une compétition de Machine Learning, similaire à celles organisées sur </a:t>
            </a:r>
            <a:r>
              <a:rPr lang="fr-FR" sz="2000" dirty="0" err="1">
                <a:solidFill>
                  <a:schemeClr val="bg1"/>
                </a:solidFill>
                <a:latin typeface="PT Sans Caption" panose="020B0603020203020204" pitchFamily="34" charset="77"/>
              </a:rPr>
              <a:t>Kaggle</a:t>
            </a:r>
            <a:r>
              <a:rPr lang="fr-FR" sz="2000" dirty="0">
                <a:solidFill>
                  <a:schemeClr val="bg1"/>
                </a:solidFill>
                <a:latin typeface="PT Sans Caption" panose="020B0603020203020204" pitchFamily="34" charset="77"/>
              </a:rPr>
              <a:t>.</a:t>
            </a:r>
          </a:p>
          <a:p>
            <a:r>
              <a:rPr lang="fr-FR" sz="2000" dirty="0">
                <a:solidFill>
                  <a:schemeClr val="bg1"/>
                </a:solidFill>
                <a:latin typeface="PT Sans Caption" panose="020B0603020203020204" pitchFamily="34" charset="77"/>
              </a:rPr>
              <a:t>Vous travaillerez comme d’habitude avec des </a:t>
            </a:r>
            <a:r>
              <a:rPr lang="fr-FR" sz="2000" dirty="0" err="1">
                <a:solidFill>
                  <a:schemeClr val="bg1"/>
                </a:solidFill>
                <a:latin typeface="PT Sans Caption" panose="020B0603020203020204" pitchFamily="34" charset="77"/>
              </a:rPr>
              <a:t>Jupyter</a:t>
            </a:r>
            <a:r>
              <a:rPr lang="fr-FR" sz="2000" dirty="0">
                <a:solidFill>
                  <a:schemeClr val="bg1"/>
                </a:solidFill>
                <a:latin typeface="PT Sans Caption" panose="020B0603020203020204" pitchFamily="34" charset="77"/>
              </a:rPr>
              <a:t> Notebooks.</a:t>
            </a:r>
          </a:p>
          <a:p>
            <a:r>
              <a:rPr lang="fr-FR" sz="2000" dirty="0">
                <a:solidFill>
                  <a:schemeClr val="bg1"/>
                </a:solidFill>
                <a:latin typeface="PT Sans Caption" panose="020B0603020203020204" pitchFamily="34" charset="77"/>
              </a:rPr>
              <a:t>À la fin, vous devrez soumettre les prédictions de votre modèle à votre enseignant ou assistant.</a:t>
            </a:r>
          </a:p>
          <a:p>
            <a:r>
              <a:rPr lang="fr-FR" sz="2000" dirty="0">
                <a:solidFill>
                  <a:schemeClr val="bg1"/>
                </a:solidFill>
                <a:latin typeface="PT Sans Caption" panose="020B0603020203020204" pitchFamily="34" charset="77"/>
              </a:rPr>
              <a:t>Les performances seront évaluées de manière indépendante, et les scores des différentes équipes seront affichés dans un classement (</a:t>
            </a:r>
            <a:r>
              <a:rPr lang="fr-FR" sz="2000" dirty="0" err="1">
                <a:solidFill>
                  <a:schemeClr val="bg1"/>
                </a:solidFill>
                <a:latin typeface="PT Sans Caption" panose="020B0603020203020204" pitchFamily="34" charset="77"/>
              </a:rPr>
              <a:t>leaderboard</a:t>
            </a:r>
            <a:r>
              <a:rPr lang="fr-FR" sz="2000" dirty="0">
                <a:solidFill>
                  <a:schemeClr val="bg1"/>
                </a:solidFill>
                <a:latin typeface="PT Sans Caption" panose="020B0603020203020204" pitchFamily="34" charset="77"/>
              </a:rPr>
              <a:t>). (On ne le fera pas ici car vous allez travaillez en groupe et vous n’allez pas tous choisir le même sujet)</a:t>
            </a:r>
          </a:p>
          <a:p>
            <a:pPr marL="0" indent="0">
              <a:buNone/>
            </a:pPr>
            <a:r>
              <a:rPr lang="fr-FR" sz="2000" dirty="0">
                <a:solidFill>
                  <a:schemeClr val="bg1"/>
                </a:solidFill>
                <a:latin typeface="PT Sans Caption" panose="020B0603020203020204" pitchFamily="34" charset="77"/>
              </a:rPr>
              <a:t>Ce projet permet de mettre en pratique la création et l’évaluation de modèles prédictifs dans un contexte compétitif.</a:t>
            </a:r>
          </a:p>
        </p:txBody>
      </p:sp>
      <p:pic>
        <p:nvPicPr>
          <p:cNvPr id="9" name="Image 8">
            <a:extLst>
              <a:ext uri="{FF2B5EF4-FFF2-40B4-BE49-F238E27FC236}">
                <a16:creationId xmlns:a16="http://schemas.microsoft.com/office/drawing/2014/main" id="{9B575AA3-97DC-EC5D-1184-EA1994FD169E}"/>
              </a:ext>
            </a:extLst>
          </p:cNvPr>
          <p:cNvPicPr>
            <a:picLocks noChangeAspect="1"/>
          </p:cNvPicPr>
          <p:nvPr/>
        </p:nvPicPr>
        <p:blipFill>
          <a:blip r:embed="rId3"/>
          <a:stretch>
            <a:fillRect/>
          </a:stretch>
        </p:blipFill>
        <p:spPr>
          <a:xfrm rot="10800000">
            <a:off x="8851900" y="90436"/>
            <a:ext cx="3340100" cy="3009900"/>
          </a:xfrm>
          <a:prstGeom prst="rect">
            <a:avLst/>
          </a:prstGeom>
        </p:spPr>
      </p:pic>
      <p:pic>
        <p:nvPicPr>
          <p:cNvPr id="3" name="Image 2">
            <a:extLst>
              <a:ext uri="{FF2B5EF4-FFF2-40B4-BE49-F238E27FC236}">
                <a16:creationId xmlns:a16="http://schemas.microsoft.com/office/drawing/2014/main" id="{9AD67740-3DB9-2C2F-C03C-516F9EED88C6}"/>
              </a:ext>
            </a:extLst>
          </p:cNvPr>
          <p:cNvPicPr>
            <a:picLocks noChangeAspect="1"/>
          </p:cNvPicPr>
          <p:nvPr/>
        </p:nvPicPr>
        <p:blipFill>
          <a:blip r:embed="rId4"/>
          <a:stretch>
            <a:fillRect/>
          </a:stretch>
        </p:blipFill>
        <p:spPr>
          <a:xfrm>
            <a:off x="838200" y="3575309"/>
            <a:ext cx="1600200" cy="1270000"/>
          </a:xfrm>
          <a:prstGeom prst="rect">
            <a:avLst/>
          </a:prstGeom>
        </p:spPr>
      </p:pic>
    </p:spTree>
    <p:extLst>
      <p:ext uri="{BB962C8B-B14F-4D97-AF65-F5344CB8AC3E}">
        <p14:creationId xmlns:p14="http://schemas.microsoft.com/office/powerpoint/2010/main" val="2613839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652FC-E2D7-327D-852C-41A57DAEA16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EEDA98-1DE9-6741-CAB1-624738C2064D}"/>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Conversion Rate </a:t>
            </a:r>
            <a:r>
              <a:rPr lang="fr-FR" sz="3200" b="1" dirty="0" err="1">
                <a:solidFill>
                  <a:schemeClr val="bg1"/>
                </a:solidFill>
                <a:latin typeface="PT Sans Caption" panose="020B0603020203020204" pitchFamily="34" charset="77"/>
              </a:rPr>
              <a:t>Prediction</a:t>
            </a:r>
            <a:r>
              <a:rPr lang="fr-FR" sz="3200" b="1" dirty="0">
                <a:solidFill>
                  <a:schemeClr val="bg1"/>
                </a:solidFill>
                <a:latin typeface="PT Sans Caption" panose="020B0603020203020204" pitchFamily="34" charset="77"/>
              </a:rPr>
              <a:t>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D3E345C6-5D94-AF11-58E3-606A7C73456D}"/>
              </a:ext>
            </a:extLst>
          </p:cNvPr>
          <p:cNvSpPr>
            <a:spLocks noGrp="1"/>
          </p:cNvSpPr>
          <p:nvPr>
            <p:ph idx="1"/>
          </p:nvPr>
        </p:nvSpPr>
        <p:spPr>
          <a:xfrm>
            <a:off x="367087" y="1919600"/>
            <a:ext cx="10675346" cy="4828888"/>
          </a:xfrm>
        </p:spPr>
        <p:txBody>
          <a:bodyPr>
            <a:noAutofit/>
          </a:bodyPr>
          <a:lstStyle/>
          <a:p>
            <a:pPr marL="0" indent="0">
              <a:buNone/>
            </a:pPr>
            <a:r>
              <a:rPr lang="fr-FR" sz="1600" b="1" dirty="0">
                <a:solidFill>
                  <a:srgbClr val="F4B183"/>
                </a:solidFill>
                <a:latin typeface="PT Sans Caption" panose="020B0603020203020204" pitchFamily="34" charset="77"/>
              </a:rPr>
              <a:t>Description d’un challenge de Machine Learning 🚴</a:t>
            </a:r>
          </a:p>
          <a:p>
            <a:pPr marL="0" indent="0">
              <a:buNone/>
            </a:pPr>
            <a:r>
              <a:rPr lang="fr-FR" sz="1500" dirty="0">
                <a:solidFill>
                  <a:schemeClr val="bg1"/>
                </a:solidFill>
                <a:latin typeface="PT Sans Caption" panose="020B0603020203020204" pitchFamily="34" charset="77"/>
              </a:rPr>
              <a:t>Dans une compétition de Machine Learning, le dataset est toujours séparé en deux fichiers :</a:t>
            </a:r>
          </a:p>
          <a:p>
            <a:pPr marL="457200" indent="-457200">
              <a:buFont typeface="+mj-lt"/>
              <a:buAutoNum type="arabicPeriod" startAt="2"/>
            </a:pPr>
            <a:r>
              <a:rPr lang="fr-FR" sz="1500" b="1" dirty="0" err="1">
                <a:solidFill>
                  <a:srgbClr val="F4B183"/>
                </a:solidFill>
                <a:latin typeface="PT Sans Caption" panose="020B0603020203020204" pitchFamily="34" charset="77"/>
              </a:rPr>
              <a:t>data_train.csv</a:t>
            </a:r>
            <a:r>
              <a:rPr lang="fr-FR" sz="1500" b="1" dirty="0">
                <a:solidFill>
                  <a:srgbClr val="F4B183"/>
                </a:solidFill>
                <a:latin typeface="PT Sans Caption" panose="020B0603020203020204" pitchFamily="34" charset="77"/>
              </a:rPr>
              <a:t> :</a:t>
            </a:r>
          </a:p>
          <a:p>
            <a:r>
              <a:rPr lang="fr-FR" sz="1500" dirty="0">
                <a:solidFill>
                  <a:schemeClr val="bg1"/>
                </a:solidFill>
                <a:latin typeface="PT Sans Caption" panose="020B0603020203020204" pitchFamily="34" charset="77"/>
              </a:rPr>
              <a:t>Contient des données étiquetées (X et Y).</a:t>
            </a:r>
          </a:p>
          <a:p>
            <a:r>
              <a:rPr lang="fr-FR" sz="1500" dirty="0">
                <a:solidFill>
                  <a:schemeClr val="bg1"/>
                </a:solidFill>
                <a:latin typeface="PT Sans Caption" panose="020B0603020203020204" pitchFamily="34" charset="77"/>
              </a:rPr>
              <a:t>C’est ce fichier que vous utilisez pour :</a:t>
            </a:r>
          </a:p>
          <a:p>
            <a:pPr lvl="1"/>
            <a:r>
              <a:rPr lang="fr-FR" sz="1500" dirty="0">
                <a:solidFill>
                  <a:schemeClr val="bg1"/>
                </a:solidFill>
                <a:latin typeface="PT Sans Caption" panose="020B0603020203020204" pitchFamily="34" charset="77"/>
              </a:rPr>
              <a:t>Faire la séparation train/test</a:t>
            </a:r>
          </a:p>
          <a:p>
            <a:pPr lvl="1"/>
            <a:r>
              <a:rPr lang="fr-FR" sz="1500" dirty="0">
                <a:solidFill>
                  <a:schemeClr val="bg1"/>
                </a:solidFill>
                <a:latin typeface="PT Sans Caption" panose="020B0603020203020204" pitchFamily="34" charset="77"/>
              </a:rPr>
              <a:t>Prétraiter les données</a:t>
            </a:r>
          </a:p>
          <a:p>
            <a:pPr lvl="1"/>
            <a:r>
              <a:rPr lang="fr-FR" sz="1500" dirty="0">
                <a:solidFill>
                  <a:schemeClr val="bg1"/>
                </a:solidFill>
                <a:latin typeface="PT Sans Caption" panose="020B0603020203020204" pitchFamily="34" charset="77"/>
              </a:rPr>
              <a:t>Entraîner et tester différents modèles</a:t>
            </a:r>
          </a:p>
          <a:p>
            <a:pPr lvl="1"/>
            <a:r>
              <a:rPr lang="fr-FR" sz="1500" dirty="0">
                <a:solidFill>
                  <a:schemeClr val="bg1"/>
                </a:solidFill>
                <a:latin typeface="PT Sans Caption" panose="020B0603020203020204" pitchFamily="34" charset="77"/>
              </a:rPr>
              <a:t>Ajuster les hyperparamètres</a:t>
            </a:r>
          </a:p>
          <a:p>
            <a:pPr marL="457200" indent="-457200">
              <a:buFont typeface="+mj-lt"/>
              <a:buAutoNum type="arabicPeriod" startAt="2"/>
            </a:pPr>
            <a:r>
              <a:rPr lang="fr-FR" sz="1500" b="1" dirty="0" err="1">
                <a:solidFill>
                  <a:srgbClr val="F4B183"/>
                </a:solidFill>
                <a:latin typeface="PT Sans Caption" panose="020B0603020203020204" pitchFamily="34" charset="77"/>
              </a:rPr>
              <a:t>data_test.csv</a:t>
            </a:r>
            <a:r>
              <a:rPr lang="fr-FR" sz="1500" b="1" dirty="0">
                <a:solidFill>
                  <a:srgbClr val="F4B183"/>
                </a:solidFill>
                <a:latin typeface="PT Sans Caption" panose="020B0603020203020204" pitchFamily="34" charset="77"/>
              </a:rPr>
              <a:t> :</a:t>
            </a:r>
          </a:p>
          <a:p>
            <a:pPr lvl="1"/>
            <a:r>
              <a:rPr lang="fr-FR" sz="1500" dirty="0">
                <a:solidFill>
                  <a:schemeClr val="bg1"/>
                </a:solidFill>
                <a:latin typeface="PT Sans Caption" panose="020B0603020203020204" pitchFamily="34" charset="77"/>
              </a:rPr>
              <a:t>Contient des données non étiquetées (X uniquement, Y supprimé).</a:t>
            </a:r>
          </a:p>
          <a:p>
            <a:pPr lvl="1"/>
            <a:r>
              <a:rPr lang="fr-FR" sz="1500" dirty="0">
                <a:solidFill>
                  <a:schemeClr val="bg1"/>
                </a:solidFill>
                <a:latin typeface="PT Sans Caption" panose="020B0603020203020204" pitchFamily="34" charset="77"/>
              </a:rPr>
              <a:t>Après avoir entraîné votre modèle, vous utilisez ce fichier pour faire des prédictions à soumettre.</a:t>
            </a:r>
          </a:p>
          <a:p>
            <a:pPr lvl="1"/>
            <a:r>
              <a:rPr lang="fr-FR" sz="1500" dirty="0">
                <a:solidFill>
                  <a:schemeClr val="bg1"/>
                </a:solidFill>
                <a:latin typeface="PT Sans Caption" panose="020B0603020203020204" pitchFamily="34" charset="77"/>
              </a:rPr>
              <a:t>Les organisateurs comparent vos prédictions avec les vraies valeurs et publient un </a:t>
            </a:r>
            <a:r>
              <a:rPr lang="fr-FR" sz="1500" dirty="0" err="1">
                <a:solidFill>
                  <a:schemeClr val="bg1"/>
                </a:solidFill>
                <a:latin typeface="PT Sans Caption" panose="020B0603020203020204" pitchFamily="34" charset="77"/>
              </a:rPr>
              <a:t>leaderboard</a:t>
            </a:r>
            <a:r>
              <a:rPr lang="fr-FR" sz="1500" dirty="0">
                <a:solidFill>
                  <a:schemeClr val="bg1"/>
                </a:solidFill>
                <a:latin typeface="PT Sans Caption" panose="020B0603020203020204" pitchFamily="34" charset="77"/>
              </a:rPr>
              <a:t> avec les scores des équipes.</a:t>
            </a:r>
          </a:p>
          <a:p>
            <a:r>
              <a:rPr lang="fr-FR" sz="1500" dirty="0">
                <a:solidFill>
                  <a:schemeClr val="bg1"/>
                </a:solidFill>
                <a:latin typeface="PT Sans Caption" panose="020B0603020203020204" pitchFamily="34" charset="77"/>
              </a:rPr>
              <a:t>Les participants savent quelle métrique sera utilisée pour l’évaluation.</a:t>
            </a:r>
          </a:p>
          <a:p>
            <a:r>
              <a:rPr lang="fr-FR" sz="1500" dirty="0">
                <a:solidFill>
                  <a:schemeClr val="bg1"/>
                </a:solidFill>
                <a:latin typeface="PT Sans Caption" panose="020B0603020203020204" pitchFamily="34" charset="77"/>
              </a:rPr>
              <a:t>Vous devez utiliser la même métrique pour évaluer vos performances sur vos train/test sets.</a:t>
            </a:r>
          </a:p>
        </p:txBody>
      </p:sp>
      <p:pic>
        <p:nvPicPr>
          <p:cNvPr id="9" name="Image 8">
            <a:extLst>
              <a:ext uri="{FF2B5EF4-FFF2-40B4-BE49-F238E27FC236}">
                <a16:creationId xmlns:a16="http://schemas.microsoft.com/office/drawing/2014/main" id="{CD5FEF3B-AFBB-BB29-2492-ADC031E257A3}"/>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826166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C5C70-53CB-B41D-FEFB-84FE8E77A8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F4C856E-9080-A79A-A445-8D3CF2C0D502}"/>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Conversion Rate </a:t>
            </a:r>
            <a:r>
              <a:rPr lang="fr-FR" sz="3200" b="1" dirty="0" err="1">
                <a:solidFill>
                  <a:schemeClr val="bg1"/>
                </a:solidFill>
                <a:latin typeface="PT Sans Caption" panose="020B0603020203020204" pitchFamily="34" charset="77"/>
              </a:rPr>
              <a:t>Prediction</a:t>
            </a:r>
            <a:r>
              <a:rPr lang="fr-FR" sz="3200" b="1" dirty="0">
                <a:solidFill>
                  <a:schemeClr val="bg1"/>
                </a:solidFill>
                <a:latin typeface="PT Sans Caption" panose="020B0603020203020204" pitchFamily="34" charset="77"/>
              </a:rPr>
              <a:t>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8A79EF2E-CB60-EAB6-8B09-0B3C295C5E0B}"/>
              </a:ext>
            </a:extLst>
          </p:cNvPr>
          <p:cNvSpPr>
            <a:spLocks noGrp="1"/>
          </p:cNvSpPr>
          <p:nvPr>
            <p:ph idx="1"/>
          </p:nvPr>
        </p:nvSpPr>
        <p:spPr>
          <a:xfrm>
            <a:off x="367087" y="1919600"/>
            <a:ext cx="10675346" cy="4235015"/>
          </a:xfrm>
        </p:spPr>
        <p:txBody>
          <a:bodyPr>
            <a:noAutofit/>
          </a:bodyPr>
          <a:lstStyle/>
          <a:p>
            <a:pPr marL="0" indent="0">
              <a:buNone/>
            </a:pPr>
            <a:r>
              <a:rPr lang="fr-FR" sz="1800" b="1" dirty="0">
                <a:solidFill>
                  <a:srgbClr val="F4B183"/>
                </a:solidFill>
                <a:latin typeface="PT Sans Caption" panose="020B0603020203020204" pitchFamily="34" charset="77"/>
              </a:rPr>
              <a:t>Description de l’entreprise et projet 📇🚧</a:t>
            </a:r>
          </a:p>
          <a:p>
            <a:pPr marL="0" indent="0">
              <a:buNone/>
            </a:pPr>
            <a:r>
              <a:rPr lang="fr-FR" sz="1700" b="1" dirty="0" err="1">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www.datascienceweekly.org</a:t>
            </a:r>
            <a:r>
              <a:rPr lang="fr-FR" sz="1700" b="1" dirty="0">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 </a:t>
            </a:r>
            <a:r>
              <a:rPr lang="fr-FR" sz="1700" dirty="0">
                <a:solidFill>
                  <a:schemeClr val="bg1"/>
                </a:solidFill>
                <a:latin typeface="PT Sans Caption" panose="020B0603020203020204" pitchFamily="34" charset="77"/>
              </a:rPr>
              <a:t>est une newsletter très connue, gérée par des data </a:t>
            </a:r>
            <a:r>
              <a:rPr lang="fr-FR" sz="1700" dirty="0" err="1">
                <a:solidFill>
                  <a:schemeClr val="bg1"/>
                </a:solidFill>
                <a:latin typeface="PT Sans Caption" panose="020B0603020203020204" pitchFamily="34" charset="77"/>
              </a:rPr>
              <a:t>scientists</a:t>
            </a:r>
            <a:r>
              <a:rPr lang="fr-FR" sz="1700" dirty="0">
                <a:solidFill>
                  <a:schemeClr val="bg1"/>
                </a:solidFill>
                <a:latin typeface="PT Sans Caption" panose="020B0603020203020204" pitchFamily="34" charset="77"/>
              </a:rPr>
              <a:t> indépendants. Tout le monde peut s’inscrire pour recevoir chaque semaine des actualités sur la data et ses applications.</a:t>
            </a:r>
          </a:p>
          <a:p>
            <a:pPr marL="0" indent="0">
              <a:buNone/>
            </a:pPr>
            <a:r>
              <a:rPr lang="fr-FR" sz="1700" dirty="0">
                <a:solidFill>
                  <a:schemeClr val="bg1"/>
                </a:solidFill>
                <a:latin typeface="PT Sans Caption" panose="020B0603020203020204" pitchFamily="34" charset="77"/>
              </a:rPr>
              <a:t>Le projet consiste à comprendre le comportement des visiteurs du site et à savoir si l’on peut prédire si un utilisateur s’abonnera à la newsletter à partir de quelques informations simples.</a:t>
            </a:r>
          </a:p>
          <a:p>
            <a:pPr marL="0" indent="0">
              <a:buNone/>
            </a:pPr>
            <a:r>
              <a:rPr lang="fr-FR" sz="1700" dirty="0">
                <a:solidFill>
                  <a:schemeClr val="bg1"/>
                </a:solidFill>
                <a:latin typeface="PT Sans Caption" panose="020B0603020203020204" pitchFamily="34" charset="77"/>
              </a:rPr>
              <a:t>L’objectif est de mettre en évidence quelles variables influencent le plus le comportement des utilisateurs.</a:t>
            </a:r>
          </a:p>
          <a:p>
            <a:pPr marL="0" indent="0">
              <a:buNone/>
            </a:pPr>
            <a:r>
              <a:rPr lang="fr-FR" sz="1700" dirty="0">
                <a:solidFill>
                  <a:schemeClr val="bg1"/>
                </a:solidFill>
                <a:latin typeface="PT Sans Caption" panose="020B0603020203020204" pitchFamily="34" charset="77"/>
              </a:rPr>
              <a:t>Les participants doivent construire un modèle prédictif de conversion (</a:t>
            </a:r>
            <a:r>
              <a:rPr lang="fr-FR" sz="1700" dirty="0" err="1">
                <a:solidFill>
                  <a:schemeClr val="bg1"/>
                </a:solidFill>
                <a:latin typeface="PT Sans Caption" panose="020B0603020203020204" pitchFamily="34" charset="77"/>
              </a:rPr>
              <a:t>subscription</a:t>
            </a:r>
            <a:r>
              <a:rPr lang="fr-FR" sz="1700" dirty="0">
                <a:solidFill>
                  <a:schemeClr val="bg1"/>
                </a:solidFill>
                <a:latin typeface="PT Sans Caption" panose="020B0603020203020204" pitchFamily="34" charset="77"/>
              </a:rPr>
              <a:t> / non-</a:t>
            </a:r>
            <a:r>
              <a:rPr lang="fr-FR" sz="1700" dirty="0" err="1">
                <a:solidFill>
                  <a:schemeClr val="bg1"/>
                </a:solidFill>
                <a:latin typeface="PT Sans Caption" panose="020B0603020203020204" pitchFamily="34" charset="77"/>
              </a:rPr>
              <a:t>subscription</a:t>
            </a:r>
            <a:r>
              <a:rPr lang="fr-FR" sz="1700" dirty="0">
                <a:solidFill>
                  <a:schemeClr val="bg1"/>
                </a:solidFill>
                <a:latin typeface="PT Sans Caption" panose="020B0603020203020204" pitchFamily="34" charset="77"/>
              </a:rPr>
              <a:t>).</a:t>
            </a:r>
          </a:p>
          <a:p>
            <a:pPr marL="0" indent="0">
              <a:buNone/>
            </a:pPr>
            <a:r>
              <a:rPr lang="fr-FR" sz="1700" dirty="0">
                <a:solidFill>
                  <a:schemeClr val="bg1"/>
                </a:solidFill>
                <a:latin typeface="PT Sans Caption" panose="020B0603020203020204" pitchFamily="34" charset="77"/>
              </a:rPr>
              <a:t>Le dataset fourni contient des informations sur le trafic du site.</a:t>
            </a:r>
          </a:p>
          <a:p>
            <a:pPr marL="0" indent="0">
              <a:buNone/>
            </a:pPr>
            <a:r>
              <a:rPr lang="fr-FR" sz="1700" dirty="0">
                <a:solidFill>
                  <a:schemeClr val="bg1"/>
                </a:solidFill>
                <a:latin typeface="PT Sans Caption" panose="020B0603020203020204" pitchFamily="34" charset="77"/>
              </a:rPr>
              <a:t>La performance des équipes sera évaluée avec la métrique F1-score, utilisée pour classer les équipes dans le </a:t>
            </a:r>
            <a:r>
              <a:rPr lang="fr-FR" sz="1700" dirty="0" err="1">
                <a:solidFill>
                  <a:schemeClr val="bg1"/>
                </a:solidFill>
                <a:latin typeface="PT Sans Caption" panose="020B0603020203020204" pitchFamily="34" charset="77"/>
              </a:rPr>
              <a:t>leaderboard</a:t>
            </a:r>
            <a:r>
              <a:rPr lang="fr-FR" sz="1700" dirty="0">
                <a:solidFill>
                  <a:schemeClr val="bg1"/>
                </a:solidFill>
                <a:latin typeface="PT Sans Caption" panose="020B0603020203020204" pitchFamily="34" charset="77"/>
              </a:rPr>
              <a:t>.</a:t>
            </a:r>
          </a:p>
          <a:p>
            <a:endParaRPr lang="fr-FR" sz="1500" dirty="0">
              <a:solidFill>
                <a:schemeClr val="bg1"/>
              </a:solidFill>
              <a:latin typeface="PT Sans Caption" panose="020B0603020203020204" pitchFamily="34" charset="77"/>
            </a:endParaRPr>
          </a:p>
        </p:txBody>
      </p:sp>
      <p:pic>
        <p:nvPicPr>
          <p:cNvPr id="9" name="Image 8">
            <a:extLst>
              <a:ext uri="{FF2B5EF4-FFF2-40B4-BE49-F238E27FC236}">
                <a16:creationId xmlns:a16="http://schemas.microsoft.com/office/drawing/2014/main" id="{E64B3F92-76BA-BBD0-2D19-428240B008E8}"/>
              </a:ext>
            </a:extLst>
          </p:cNvPr>
          <p:cNvPicPr>
            <a:picLocks noChangeAspect="1"/>
          </p:cNvPicPr>
          <p:nvPr/>
        </p:nvPicPr>
        <p:blipFill>
          <a:blip r:embed="rId4"/>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300574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1A570-A87E-78FA-7E74-61181DF156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F61CCE5-3AED-DBE1-31BC-7FCAEFD62343}"/>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Conversion Rate </a:t>
            </a:r>
            <a:r>
              <a:rPr lang="fr-FR" sz="3200" b="1" dirty="0" err="1">
                <a:solidFill>
                  <a:schemeClr val="bg1"/>
                </a:solidFill>
                <a:latin typeface="PT Sans Caption" panose="020B0603020203020204" pitchFamily="34" charset="77"/>
              </a:rPr>
              <a:t>Prediction</a:t>
            </a:r>
            <a:r>
              <a:rPr lang="fr-FR" sz="3200" b="1" dirty="0">
                <a:solidFill>
                  <a:schemeClr val="bg1"/>
                </a:solidFill>
                <a:latin typeface="PT Sans Caption" panose="020B0603020203020204" pitchFamily="34" charset="77"/>
              </a:rPr>
              <a:t>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6CAEAEC7-A564-8D4F-AB56-3C24B2494BFA}"/>
              </a:ext>
            </a:extLst>
          </p:cNvPr>
          <p:cNvSpPr>
            <a:spLocks noGrp="1"/>
          </p:cNvSpPr>
          <p:nvPr>
            <p:ph idx="1"/>
          </p:nvPr>
        </p:nvSpPr>
        <p:spPr>
          <a:xfrm>
            <a:off x="273304" y="2550235"/>
            <a:ext cx="5728912" cy="4457754"/>
          </a:xfrm>
        </p:spPr>
        <p:txBody>
          <a:bodyPr>
            <a:noAutofit/>
          </a:bodyPr>
          <a:lstStyle/>
          <a:p>
            <a:pPr marL="0" indent="0">
              <a:buNone/>
            </a:pPr>
            <a:r>
              <a:rPr lang="fr-FR" sz="1500" dirty="0">
                <a:solidFill>
                  <a:schemeClr val="bg1"/>
                </a:solidFill>
                <a:latin typeface="PT Sans Caption" panose="020B0603020203020204" pitchFamily="34" charset="77"/>
              </a:rPr>
              <a:t>Le projet se divise en quatre étapes :</a:t>
            </a:r>
          </a:p>
          <a:p>
            <a:pPr marL="342900" indent="-342900">
              <a:buFont typeface="+mj-lt"/>
              <a:buAutoNum type="arabicPeriod"/>
            </a:pPr>
            <a:r>
              <a:rPr lang="fr-FR" sz="1500" dirty="0">
                <a:solidFill>
                  <a:srgbClr val="F4B183"/>
                </a:solidFill>
                <a:latin typeface="PT Sans Caption" panose="020B0603020203020204" pitchFamily="34" charset="77"/>
              </a:rPr>
              <a:t>EDA et prétraitement</a:t>
            </a:r>
          </a:p>
          <a:p>
            <a:r>
              <a:rPr lang="fr-FR" sz="1500" dirty="0">
                <a:solidFill>
                  <a:schemeClr val="bg1"/>
                </a:solidFill>
                <a:latin typeface="PT Sans Caption" panose="020B0603020203020204" pitchFamily="34" charset="77"/>
              </a:rPr>
              <a:t>Explorer le dataset </a:t>
            </a:r>
            <a:r>
              <a:rPr lang="fr-FR" sz="1500" dirty="0" err="1">
                <a:solidFill>
                  <a:schemeClr val="bg1"/>
                </a:solidFill>
                <a:latin typeface="PT Sans Caption" panose="020B0603020203020204" pitchFamily="34" charset="77"/>
              </a:rPr>
              <a:t>data_train.csv</a:t>
            </a:r>
            <a:endParaRPr lang="fr-FR" sz="1500" dirty="0">
              <a:solidFill>
                <a:schemeClr val="bg1"/>
              </a:solidFill>
              <a:latin typeface="PT Sans Caption" panose="020B0603020203020204" pitchFamily="34" charset="77"/>
            </a:endParaRPr>
          </a:p>
          <a:p>
            <a:r>
              <a:rPr lang="fr-FR" sz="1500" dirty="0">
                <a:solidFill>
                  <a:schemeClr val="bg1"/>
                </a:solidFill>
                <a:latin typeface="PT Sans Caption" panose="020B0603020203020204" pitchFamily="34" charset="77"/>
              </a:rPr>
              <a:t>Préparer les données et entraîner un modèle de base</a:t>
            </a:r>
          </a:p>
          <a:p>
            <a:pPr marL="342900" indent="-342900">
              <a:buFont typeface="+mj-lt"/>
              <a:buAutoNum type="arabicPeriod" startAt="2"/>
            </a:pPr>
            <a:r>
              <a:rPr lang="fr-FR" sz="1500" dirty="0">
                <a:solidFill>
                  <a:srgbClr val="F4B183"/>
                </a:solidFill>
                <a:latin typeface="PT Sans Caption" panose="020B0603020203020204" pitchFamily="34" charset="77"/>
              </a:rPr>
              <a:t>Amélioration du modèle</a:t>
            </a:r>
          </a:p>
          <a:p>
            <a:r>
              <a:rPr lang="fr-FR" sz="1500" dirty="0">
                <a:solidFill>
                  <a:schemeClr val="bg1"/>
                </a:solidFill>
                <a:latin typeface="PT Sans Caption" panose="020B0603020203020204" pitchFamily="34" charset="77"/>
              </a:rPr>
              <a:t>Chercher à augmenter le F1-score sur le jeu de test</a:t>
            </a:r>
          </a:p>
          <a:p>
            <a:r>
              <a:rPr lang="fr-FR" sz="1500" dirty="0">
                <a:solidFill>
                  <a:schemeClr val="bg1"/>
                </a:solidFill>
                <a:latin typeface="PT Sans Caption" panose="020B0603020203020204" pitchFamily="34" charset="77"/>
              </a:rPr>
              <a:t>Possibilités : </a:t>
            </a:r>
            <a:r>
              <a:rPr lang="fr-FR" sz="1500" dirty="0" err="1">
                <a:solidFill>
                  <a:schemeClr val="bg1"/>
                </a:solidFill>
                <a:latin typeface="PT Sans Caption" panose="020B0603020203020204" pitchFamily="34" charset="77"/>
              </a:rPr>
              <a:t>feature</a:t>
            </a:r>
            <a:r>
              <a:rPr lang="fr-FR" sz="1500" dirty="0">
                <a:solidFill>
                  <a:schemeClr val="bg1"/>
                </a:solidFill>
                <a:latin typeface="PT Sans Caption" panose="020B0603020203020204" pitchFamily="34" charset="77"/>
              </a:rPr>
              <a:t> engineering, sélection de variables, régularisation, modèles non-linéaires, optimisation d’hyperparamètres (</a:t>
            </a:r>
            <a:r>
              <a:rPr lang="fr-FR" sz="1500" dirty="0" err="1">
                <a:solidFill>
                  <a:schemeClr val="bg1"/>
                </a:solidFill>
                <a:latin typeface="PT Sans Caption" panose="020B0603020203020204" pitchFamily="34" charset="77"/>
              </a:rPr>
              <a:t>Grid</a:t>
            </a:r>
            <a:r>
              <a:rPr lang="fr-FR" sz="1500" dirty="0">
                <a:solidFill>
                  <a:schemeClr val="bg1"/>
                </a:solidFill>
                <a:latin typeface="PT Sans Caption" panose="020B0603020203020204" pitchFamily="34" charset="77"/>
              </a:rPr>
              <a:t> </a:t>
            </a:r>
            <a:r>
              <a:rPr lang="fr-FR" sz="1500" dirty="0" err="1">
                <a:solidFill>
                  <a:schemeClr val="bg1"/>
                </a:solidFill>
                <a:latin typeface="PT Sans Caption" panose="020B0603020203020204" pitchFamily="34" charset="77"/>
              </a:rPr>
              <a:t>Search</a:t>
            </a:r>
            <a:r>
              <a:rPr lang="fr-FR" sz="1500" dirty="0">
                <a:solidFill>
                  <a:schemeClr val="bg1"/>
                </a:solidFill>
                <a:latin typeface="PT Sans Caption" panose="020B0603020203020204" pitchFamily="34" charset="77"/>
              </a:rPr>
              <a:t>), etc.</a:t>
            </a:r>
          </a:p>
        </p:txBody>
      </p:sp>
      <p:pic>
        <p:nvPicPr>
          <p:cNvPr id="9" name="Image 8">
            <a:extLst>
              <a:ext uri="{FF2B5EF4-FFF2-40B4-BE49-F238E27FC236}">
                <a16:creationId xmlns:a16="http://schemas.microsoft.com/office/drawing/2014/main" id="{D28C9A78-1596-2B80-E0E4-3942B77BAF90}"/>
              </a:ext>
            </a:extLst>
          </p:cNvPr>
          <p:cNvPicPr>
            <a:picLocks noChangeAspect="1"/>
          </p:cNvPicPr>
          <p:nvPr/>
        </p:nvPicPr>
        <p:blipFill>
          <a:blip r:embed="rId3"/>
          <a:stretch>
            <a:fillRect/>
          </a:stretch>
        </p:blipFill>
        <p:spPr>
          <a:xfrm rot="10800000">
            <a:off x="8851900" y="90436"/>
            <a:ext cx="3340100" cy="3009900"/>
          </a:xfrm>
          <a:prstGeom prst="rect">
            <a:avLst/>
          </a:prstGeom>
        </p:spPr>
      </p:pic>
      <p:sp>
        <p:nvSpPr>
          <p:cNvPr id="4" name="ZoneTexte 3">
            <a:extLst>
              <a:ext uri="{FF2B5EF4-FFF2-40B4-BE49-F238E27FC236}">
                <a16:creationId xmlns:a16="http://schemas.microsoft.com/office/drawing/2014/main" id="{33B9A687-2275-B2A2-E489-B0DAD5E4ED3C}"/>
              </a:ext>
            </a:extLst>
          </p:cNvPr>
          <p:cNvSpPr txBox="1"/>
          <p:nvPr/>
        </p:nvSpPr>
        <p:spPr>
          <a:xfrm>
            <a:off x="6189786" y="2289416"/>
            <a:ext cx="5533292" cy="4560223"/>
          </a:xfrm>
          <a:prstGeom prst="rect">
            <a:avLst/>
          </a:prstGeom>
          <a:noFill/>
        </p:spPr>
        <p:txBody>
          <a:bodyPr wrap="square">
            <a:spAutoFit/>
          </a:bodyPr>
          <a:lstStyle/>
          <a:p>
            <a:pPr marL="342900" indent="-342900" defTabSz="914400">
              <a:lnSpc>
                <a:spcPct val="90000"/>
              </a:lnSpc>
              <a:spcBef>
                <a:spcPts val="1000"/>
              </a:spcBef>
              <a:buFont typeface="+mj-lt"/>
              <a:buAutoNum type="arabicPeriod" startAt="3"/>
            </a:pPr>
            <a:r>
              <a:rPr lang="fr-FR" sz="1500" dirty="0">
                <a:solidFill>
                  <a:srgbClr val="F4B183"/>
                </a:solidFill>
                <a:latin typeface="PT Sans Caption" panose="020B0603020203020204" pitchFamily="34" charset="77"/>
              </a:rPr>
              <a:t>Prédictions et soumission</a:t>
            </a:r>
          </a:p>
          <a:p>
            <a:endParaRPr lang="fr-FR" sz="1500" dirty="0">
              <a:solidFill>
                <a:schemeClr val="bg1"/>
              </a:solidFill>
              <a:latin typeface="PT Sans Caption" panose="020B0603020203020204" pitchFamily="34" charset="77"/>
            </a:endParaRPr>
          </a:p>
          <a:p>
            <a:pPr marL="285750" indent="-285750">
              <a:buFont typeface="Arial" panose="020B0604020202020204" pitchFamily="34" charset="0"/>
              <a:buChar char="•"/>
            </a:pPr>
            <a:r>
              <a:rPr lang="fr-FR" sz="1500" dirty="0">
                <a:solidFill>
                  <a:schemeClr val="bg1"/>
                </a:solidFill>
                <a:latin typeface="PT Sans Caption" panose="020B0603020203020204" pitchFamily="34" charset="77"/>
              </a:rPr>
              <a:t>Utiliser votre meilleur modèle pour prédire les conversions sur </a:t>
            </a:r>
            <a:r>
              <a:rPr lang="fr-FR" sz="1500" dirty="0" err="1">
                <a:solidFill>
                  <a:schemeClr val="bg1"/>
                </a:solidFill>
                <a:latin typeface="PT Sans Caption" panose="020B0603020203020204" pitchFamily="34" charset="77"/>
              </a:rPr>
              <a:t>data_test.csv</a:t>
            </a:r>
            <a:endParaRPr lang="fr-FR" sz="1500" dirty="0">
              <a:solidFill>
                <a:schemeClr val="bg1"/>
              </a:solidFill>
              <a:latin typeface="PT Sans Caption" panose="020B0603020203020204" pitchFamily="34" charset="77"/>
            </a:endParaRPr>
          </a:p>
          <a:p>
            <a:pPr marL="285750" indent="-285750">
              <a:buFont typeface="Arial" panose="020B0604020202020204" pitchFamily="34" charset="0"/>
              <a:buChar char="•"/>
            </a:pPr>
            <a:endParaRPr lang="fr-FR" sz="1500" dirty="0">
              <a:solidFill>
                <a:schemeClr val="bg1"/>
              </a:solidFill>
              <a:latin typeface="PT Sans Caption" panose="020B0603020203020204" pitchFamily="34" charset="77"/>
            </a:endParaRPr>
          </a:p>
          <a:p>
            <a:pPr marL="285750" indent="-285750">
              <a:buFont typeface="Arial" panose="020B0604020202020204" pitchFamily="34" charset="0"/>
              <a:buChar char="•"/>
            </a:pPr>
            <a:r>
              <a:rPr lang="fr-FR" sz="1500" dirty="0">
                <a:solidFill>
                  <a:schemeClr val="bg1"/>
                </a:solidFill>
                <a:latin typeface="PT Sans Caption" panose="020B0603020203020204" pitchFamily="34" charset="77"/>
              </a:rPr>
              <a:t>Exporter les prédictions dans un .csv et soumettre à l’enseignant/TA</a:t>
            </a:r>
          </a:p>
          <a:p>
            <a:pPr marL="285750" indent="-285750">
              <a:buFont typeface="Arial" panose="020B0604020202020204" pitchFamily="34" charset="0"/>
              <a:buChar char="•"/>
            </a:pPr>
            <a:r>
              <a:rPr lang="fr-FR" sz="1500" dirty="0">
                <a:solidFill>
                  <a:schemeClr val="bg1"/>
                </a:solidFill>
                <a:latin typeface="PT Sans Caption" panose="020B0603020203020204" pitchFamily="34" charset="77"/>
              </a:rPr>
              <a:t>Vous pouvez faire plusieurs essais avec différents modèles</a:t>
            </a:r>
          </a:p>
          <a:p>
            <a:endParaRPr lang="fr-FR" sz="1500" dirty="0">
              <a:solidFill>
                <a:schemeClr val="bg1"/>
              </a:solidFill>
              <a:latin typeface="PT Sans Caption" panose="020B0603020203020204" pitchFamily="34" charset="77"/>
            </a:endParaRPr>
          </a:p>
          <a:p>
            <a:pPr marL="342900" indent="-342900" defTabSz="914400">
              <a:lnSpc>
                <a:spcPct val="90000"/>
              </a:lnSpc>
              <a:spcBef>
                <a:spcPts val="1000"/>
              </a:spcBef>
              <a:buFont typeface="+mj-lt"/>
              <a:buAutoNum type="arabicPeriod" startAt="4"/>
            </a:pPr>
            <a:r>
              <a:rPr lang="fr-FR" sz="1500" dirty="0">
                <a:solidFill>
                  <a:srgbClr val="F4B183"/>
                </a:solidFill>
                <a:latin typeface="PT Sans Caption" panose="020B0603020203020204" pitchFamily="34" charset="77"/>
              </a:rPr>
              <a:t>Analyse du modèle</a:t>
            </a:r>
          </a:p>
          <a:p>
            <a:endParaRPr lang="fr-FR" sz="1500" dirty="0">
              <a:solidFill>
                <a:schemeClr val="bg1"/>
              </a:solidFill>
              <a:latin typeface="PT Sans Caption" panose="020B0603020203020204" pitchFamily="34" charset="77"/>
            </a:endParaRPr>
          </a:p>
          <a:p>
            <a:pPr marL="285750" indent="-285750">
              <a:buFont typeface="Arial" panose="020B0604020202020204" pitchFamily="34" charset="0"/>
              <a:buChar char="•"/>
            </a:pPr>
            <a:r>
              <a:rPr lang="fr-FR" sz="1500" dirty="0">
                <a:solidFill>
                  <a:schemeClr val="bg1"/>
                </a:solidFill>
                <a:latin typeface="PT Sans Caption" panose="020B0603020203020204" pitchFamily="34" charset="77"/>
              </a:rPr>
              <a:t>Examiner les paramètres et l’importance des variables</a:t>
            </a:r>
          </a:p>
          <a:p>
            <a:pPr marL="285750" indent="-285750">
              <a:buFont typeface="Arial" panose="020B0604020202020204" pitchFamily="34" charset="0"/>
              <a:buChar char="•"/>
            </a:pPr>
            <a:endParaRPr lang="fr-FR" sz="1500" dirty="0">
              <a:solidFill>
                <a:schemeClr val="bg1"/>
              </a:solidFill>
              <a:latin typeface="PT Sans Caption" panose="020B0603020203020204" pitchFamily="34" charset="77"/>
            </a:endParaRPr>
          </a:p>
          <a:p>
            <a:pPr marL="285750" indent="-285750">
              <a:buFont typeface="Arial" panose="020B0604020202020204" pitchFamily="34" charset="0"/>
              <a:buChar char="•"/>
            </a:pPr>
            <a:r>
              <a:rPr lang="fr-FR" sz="1500" dirty="0">
                <a:solidFill>
                  <a:schemeClr val="bg1"/>
                </a:solidFill>
                <a:latin typeface="PT Sans Caption" panose="020B0603020203020204" pitchFamily="34" charset="77"/>
              </a:rPr>
              <a:t>Identifier des leviers d’action pour améliorer le taux de conversion</a:t>
            </a:r>
          </a:p>
          <a:p>
            <a:pPr marL="285750" indent="-285750">
              <a:buFont typeface="Arial" panose="020B0604020202020204" pitchFamily="34" charset="0"/>
              <a:buChar char="•"/>
            </a:pPr>
            <a:endParaRPr lang="fr-FR" sz="1500" dirty="0">
              <a:solidFill>
                <a:schemeClr val="bg1"/>
              </a:solidFill>
              <a:latin typeface="PT Sans Caption" panose="020B0603020203020204" pitchFamily="34" charset="77"/>
            </a:endParaRPr>
          </a:p>
          <a:p>
            <a:pPr marL="285750" indent="-285750">
              <a:buFont typeface="Arial" panose="020B0604020202020204" pitchFamily="34" charset="0"/>
              <a:buChar char="•"/>
            </a:pPr>
            <a:r>
              <a:rPr lang="fr-FR" sz="1500" dirty="0">
                <a:solidFill>
                  <a:schemeClr val="bg1"/>
                </a:solidFill>
                <a:latin typeface="PT Sans Caption" panose="020B0603020203020204" pitchFamily="34" charset="77"/>
              </a:rPr>
              <a:t>Formuler des recommandations pour l’équipe</a:t>
            </a:r>
          </a:p>
        </p:txBody>
      </p:sp>
      <p:sp>
        <p:nvSpPr>
          <p:cNvPr id="10" name="ZoneTexte 9">
            <a:extLst>
              <a:ext uri="{FF2B5EF4-FFF2-40B4-BE49-F238E27FC236}">
                <a16:creationId xmlns:a16="http://schemas.microsoft.com/office/drawing/2014/main" id="{72353571-FAD3-17FB-6113-451B3C083D3F}"/>
              </a:ext>
            </a:extLst>
          </p:cNvPr>
          <p:cNvSpPr txBox="1"/>
          <p:nvPr/>
        </p:nvSpPr>
        <p:spPr>
          <a:xfrm>
            <a:off x="4278925" y="1786245"/>
            <a:ext cx="2954214" cy="369332"/>
          </a:xfrm>
          <a:prstGeom prst="rect">
            <a:avLst/>
          </a:prstGeom>
          <a:noFill/>
        </p:spPr>
        <p:txBody>
          <a:bodyPr wrap="square">
            <a:spAutoFit/>
          </a:bodyPr>
          <a:lstStyle/>
          <a:p>
            <a:pPr algn="r" rtl="0"/>
            <a:r>
              <a:rPr lang="fr-FR" sz="1800" b="1" i="0" u="none" strike="noStrike" kern="1200" baseline="0" dirty="0">
                <a:solidFill>
                  <a:srgbClr val="F4B183"/>
                </a:solidFill>
                <a:latin typeface="PT Sans Caption" panose="020B0603020203020204" pitchFamily="34" charset="77"/>
              </a:rPr>
              <a:t>Objectifs du projet 🎯</a:t>
            </a:r>
          </a:p>
        </p:txBody>
      </p:sp>
    </p:spTree>
    <p:extLst>
      <p:ext uri="{BB962C8B-B14F-4D97-AF65-F5344CB8AC3E}">
        <p14:creationId xmlns:p14="http://schemas.microsoft.com/office/powerpoint/2010/main" val="796918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FD804-33E1-01BC-EAC2-054C7715652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BB8D134-13E2-6AE9-30A6-F0944BDA3C58}"/>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Conversion Rate </a:t>
            </a:r>
            <a:r>
              <a:rPr lang="fr-FR" sz="3200" b="1" dirty="0" err="1">
                <a:solidFill>
                  <a:schemeClr val="bg1"/>
                </a:solidFill>
                <a:latin typeface="PT Sans Caption" panose="020B0603020203020204" pitchFamily="34" charset="77"/>
              </a:rPr>
              <a:t>Prediction</a:t>
            </a:r>
            <a:r>
              <a:rPr lang="fr-FR" sz="3200" b="1" dirty="0">
                <a:solidFill>
                  <a:schemeClr val="bg1"/>
                </a:solidFill>
                <a:latin typeface="PT Sans Caption" panose="020B0603020203020204" pitchFamily="34" charset="77"/>
              </a:rPr>
              <a:t>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5F8FF22A-C980-DB20-1AD2-7760657F47D0}"/>
              </a:ext>
            </a:extLst>
          </p:cNvPr>
          <p:cNvSpPr>
            <a:spLocks noGrp="1"/>
          </p:cNvSpPr>
          <p:nvPr>
            <p:ph idx="1"/>
          </p:nvPr>
        </p:nvSpPr>
        <p:spPr>
          <a:xfrm>
            <a:off x="367087" y="1919600"/>
            <a:ext cx="10675346" cy="4235015"/>
          </a:xfrm>
        </p:spPr>
        <p:txBody>
          <a:bodyPr>
            <a:noAutofit/>
          </a:bodyPr>
          <a:lstStyle/>
          <a:p>
            <a:pPr marL="0" indent="0" algn="ctr">
              <a:buNone/>
            </a:pPr>
            <a:r>
              <a:rPr lang="fr-FR" sz="1800" b="1" dirty="0">
                <a:solidFill>
                  <a:srgbClr val="F4B183"/>
                </a:solidFill>
                <a:latin typeface="PT Sans Caption" panose="020B0603020203020204" pitchFamily="34" charset="77"/>
              </a:rPr>
              <a:t>Helpers </a:t>
            </a:r>
            <a:r>
              <a:rPr lang="fr-FR" sz="1700" dirty="0">
                <a:solidFill>
                  <a:schemeClr val="bg1"/>
                </a:solidFill>
                <a:latin typeface="PT Sans Caption" panose="020B0603020203020204" pitchFamily="34" charset="77"/>
              </a:rPr>
              <a:t>🦮</a:t>
            </a:r>
          </a:p>
          <a:p>
            <a:pPr marL="0" indent="0">
              <a:buNone/>
            </a:pPr>
            <a:r>
              <a:rPr lang="fr-FR" sz="1700" dirty="0">
                <a:solidFill>
                  <a:schemeClr val="bg1"/>
                </a:solidFill>
                <a:latin typeface="PT Sans Caption" panose="020B0603020203020204" pitchFamily="34" charset="77"/>
              </a:rPr>
              <a:t>Pour vous guider dans la réalisation du projet, un </a:t>
            </a:r>
            <a:r>
              <a:rPr lang="fr-FR" sz="1700" dirty="0" err="1">
                <a:solidFill>
                  <a:schemeClr val="bg1"/>
                </a:solidFill>
                <a:latin typeface="PT Sans Caption" panose="020B0603020203020204" pitchFamily="34" charset="77"/>
              </a:rPr>
              <a:t>template</a:t>
            </a:r>
            <a:r>
              <a:rPr lang="fr-FR" sz="1700" dirty="0">
                <a:solidFill>
                  <a:schemeClr val="bg1"/>
                </a:solidFill>
                <a:latin typeface="PT Sans Caption" panose="020B0603020203020204" pitchFamily="34" charset="77"/>
              </a:rPr>
              <a:t> </a:t>
            </a:r>
            <a:r>
              <a:rPr lang="fr-FR" sz="1700" dirty="0" err="1">
                <a:solidFill>
                  <a:schemeClr val="bg1"/>
                </a:solidFill>
                <a:latin typeface="PT Sans Caption" panose="020B0603020203020204" pitchFamily="34" charset="77"/>
              </a:rPr>
              <a:t>Jupyter</a:t>
            </a:r>
            <a:r>
              <a:rPr lang="fr-FR" sz="1700" dirty="0">
                <a:solidFill>
                  <a:schemeClr val="bg1"/>
                </a:solidFill>
                <a:latin typeface="PT Sans Caption" panose="020B0603020203020204" pitchFamily="34" charset="77"/>
              </a:rPr>
              <a:t> est fourni :</a:t>
            </a:r>
          </a:p>
          <a:p>
            <a:pPr marL="0" indent="0">
              <a:buNone/>
            </a:pPr>
            <a:r>
              <a:rPr lang="fr-FR" sz="1700" dirty="0">
                <a:solidFill>
                  <a:schemeClr val="bg1"/>
                </a:solidFill>
                <a:latin typeface="PT Sans Caption" panose="020B0603020203020204" pitchFamily="34" charset="77"/>
              </a:rPr>
              <a:t>Template : </a:t>
            </a:r>
            <a:r>
              <a:rPr lang="fr-FR" sz="1700" dirty="0">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02-Conversion_rate_challenge_template.ipynb</a:t>
            </a:r>
            <a:endParaRPr lang="fr-FR" sz="1700" dirty="0">
              <a:solidFill>
                <a:srgbClr val="F4B183"/>
              </a:solidFill>
              <a:latin typeface="PT Sans Caption" panose="020B0603020203020204" pitchFamily="34" charset="77"/>
            </a:endParaRPr>
          </a:p>
          <a:p>
            <a:pPr marL="0" indent="0">
              <a:buNone/>
            </a:pPr>
            <a:r>
              <a:rPr lang="fr-FR" sz="1700" dirty="0" err="1">
                <a:solidFill>
                  <a:schemeClr val="bg1"/>
                </a:solidFill>
                <a:latin typeface="PT Sans Caption" panose="020B0603020203020204" pitchFamily="34" charset="77"/>
              </a:rPr>
              <a:t>Datasets</a:t>
            </a:r>
            <a:r>
              <a:rPr lang="fr-FR" sz="1700" dirty="0">
                <a:solidFill>
                  <a:schemeClr val="bg1"/>
                </a:solidFill>
                <a:latin typeface="PT Sans Caption" panose="020B0603020203020204" pitchFamily="34" charset="77"/>
              </a:rPr>
              <a:t> : </a:t>
            </a:r>
            <a:r>
              <a:rPr lang="fr-FR" sz="1700" dirty="0">
                <a:solidFill>
                  <a:srgbClr val="F4B183"/>
                </a:solidFill>
                <a:latin typeface="PT Sans Caption" panose="020B0603020203020204" pitchFamily="34" charset="77"/>
                <a:hlinkClick r:id="rId4">
                  <a:extLst>
                    <a:ext uri="{A12FA001-AC4F-418D-AE19-62706E023703}">
                      <ahyp:hlinkClr xmlns:ahyp="http://schemas.microsoft.com/office/drawing/2018/hyperlinkcolor" val="tx"/>
                    </a:ext>
                  </a:extLst>
                </a:hlinkClick>
              </a:rPr>
              <a:t>Test</a:t>
            </a:r>
            <a:r>
              <a:rPr lang="fr-FR" sz="1700" dirty="0">
                <a:solidFill>
                  <a:schemeClr val="bg1"/>
                </a:solidFill>
                <a:latin typeface="PT Sans Caption" panose="020B0603020203020204" pitchFamily="34" charset="77"/>
              </a:rPr>
              <a:t>, </a:t>
            </a:r>
            <a:r>
              <a:rPr lang="fr-FR" sz="1700" dirty="0">
                <a:solidFill>
                  <a:srgbClr val="F4B183"/>
                </a:solidFill>
                <a:latin typeface="PT Sans Caption" panose="020B0603020203020204" pitchFamily="34" charset="77"/>
                <a:hlinkClick r:id="rId5">
                  <a:extLst>
                    <a:ext uri="{A12FA001-AC4F-418D-AE19-62706E023703}">
                      <ahyp:hlinkClr xmlns:ahyp="http://schemas.microsoft.com/office/drawing/2018/hyperlinkcolor" val="tx"/>
                    </a:ext>
                  </a:extLst>
                </a:hlinkClick>
              </a:rPr>
              <a:t>Train</a:t>
            </a:r>
            <a:endParaRPr lang="fr-FR" sz="1700" dirty="0">
              <a:solidFill>
                <a:srgbClr val="F4B183"/>
              </a:solidFill>
              <a:latin typeface="PT Sans Caption" panose="020B0603020203020204" pitchFamily="34" charset="77"/>
            </a:endParaRPr>
          </a:p>
          <a:p>
            <a:pPr marL="0" indent="0">
              <a:buNone/>
            </a:pPr>
            <a:r>
              <a:rPr lang="fr-FR" sz="1700" dirty="0">
                <a:solidFill>
                  <a:schemeClr val="bg1"/>
                </a:solidFill>
                <a:latin typeface="PT Sans Caption" panose="020B0603020203020204" pitchFamily="34" charset="77"/>
              </a:rPr>
              <a:t>Contenu : toutes les étapes de prétraitement, entraînement et prédiction sont déjà implémentées pour un modèle très simple (régression logistique avec une seule variable).</a:t>
            </a:r>
          </a:p>
          <a:p>
            <a:pPr marL="0" indent="0">
              <a:buNone/>
            </a:pPr>
            <a:r>
              <a:rPr lang="fr-FR" sz="1700" dirty="0">
                <a:solidFill>
                  <a:schemeClr val="bg1"/>
                </a:solidFill>
                <a:latin typeface="PT Sans Caption" panose="020B0603020203020204" pitchFamily="34" charset="77"/>
              </a:rPr>
              <a:t>À vous de :</a:t>
            </a:r>
          </a:p>
          <a:p>
            <a:r>
              <a:rPr lang="fr-FR" sz="1700" dirty="0">
                <a:solidFill>
                  <a:schemeClr val="bg1"/>
                </a:solidFill>
                <a:latin typeface="PT Sans Caption" panose="020B0603020203020204" pitchFamily="34" charset="77"/>
              </a:rPr>
              <a:t>Modifier le EDA</a:t>
            </a:r>
          </a:p>
          <a:p>
            <a:r>
              <a:rPr lang="fr-FR" sz="1700" dirty="0">
                <a:solidFill>
                  <a:schemeClr val="bg1"/>
                </a:solidFill>
                <a:latin typeface="PT Sans Caption" panose="020B0603020203020204" pitchFamily="34" charset="77"/>
              </a:rPr>
              <a:t>Adapter le prétraitement</a:t>
            </a:r>
          </a:p>
          <a:p>
            <a:r>
              <a:rPr lang="fr-FR" sz="1700" dirty="0">
                <a:solidFill>
                  <a:schemeClr val="bg1"/>
                </a:solidFill>
                <a:latin typeface="PT Sans Caption" panose="020B0603020203020204" pitchFamily="34" charset="77"/>
              </a:rPr>
              <a:t>Tester des modèles plus avancés</a:t>
            </a:r>
          </a:p>
          <a:p>
            <a:pPr marL="0" indent="0">
              <a:buNone/>
            </a:pPr>
            <a:r>
              <a:rPr lang="fr-FR" sz="1700" dirty="0">
                <a:solidFill>
                  <a:schemeClr val="bg1"/>
                </a:solidFill>
                <a:latin typeface="PT Sans Caption" panose="020B0603020203020204" pitchFamily="34" charset="77"/>
              </a:rPr>
              <a:t>Ce </a:t>
            </a:r>
            <a:r>
              <a:rPr lang="fr-FR" sz="1700" dirty="0" err="1">
                <a:solidFill>
                  <a:schemeClr val="bg1"/>
                </a:solidFill>
                <a:latin typeface="PT Sans Caption" panose="020B0603020203020204" pitchFamily="34" charset="77"/>
              </a:rPr>
              <a:t>template</a:t>
            </a:r>
            <a:r>
              <a:rPr lang="fr-FR" sz="1700" dirty="0">
                <a:solidFill>
                  <a:schemeClr val="bg1"/>
                </a:solidFill>
                <a:latin typeface="PT Sans Caption" panose="020B0603020203020204" pitchFamily="34" charset="77"/>
              </a:rPr>
              <a:t> est un point de départ pour vous concentrer sur l’amélioration du modèle et l’analyse des résultats.</a:t>
            </a:r>
            <a:endParaRPr lang="fr-FR" sz="1500" dirty="0">
              <a:solidFill>
                <a:schemeClr val="bg1"/>
              </a:solidFill>
              <a:latin typeface="PT Sans Caption" panose="020B0603020203020204" pitchFamily="34" charset="77"/>
            </a:endParaRPr>
          </a:p>
        </p:txBody>
      </p:sp>
      <p:pic>
        <p:nvPicPr>
          <p:cNvPr id="9" name="Image 8">
            <a:extLst>
              <a:ext uri="{FF2B5EF4-FFF2-40B4-BE49-F238E27FC236}">
                <a16:creationId xmlns:a16="http://schemas.microsoft.com/office/drawing/2014/main" id="{28E71D34-3407-4E13-9362-E7E653835739}"/>
              </a:ext>
            </a:extLst>
          </p:cNvPr>
          <p:cNvPicPr>
            <a:picLocks noChangeAspect="1"/>
          </p:cNvPicPr>
          <p:nvPr/>
        </p:nvPicPr>
        <p:blipFill>
          <a:blip r:embed="rId6"/>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369222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057A6-2FE7-9718-4F3D-386611B590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8F704BC-63F2-9CBD-6FBE-0DBA6637F676}"/>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Uber Pickups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0221C4DB-1A32-734E-7D7A-414419175C63}"/>
              </a:ext>
            </a:extLst>
          </p:cNvPr>
          <p:cNvSpPr>
            <a:spLocks noGrp="1"/>
          </p:cNvSpPr>
          <p:nvPr>
            <p:ph idx="1"/>
          </p:nvPr>
        </p:nvSpPr>
        <p:spPr>
          <a:xfrm>
            <a:off x="367087" y="1919600"/>
            <a:ext cx="10675346" cy="4235015"/>
          </a:xfrm>
        </p:spPr>
        <p:txBody>
          <a:bodyPr>
            <a:noAutofit/>
          </a:bodyPr>
          <a:lstStyle/>
          <a:p>
            <a:pPr marL="0" indent="0" algn="ctr">
              <a:buNone/>
            </a:pPr>
            <a:r>
              <a:rPr lang="fr-FR" sz="1800" b="1" dirty="0">
                <a:solidFill>
                  <a:srgbClr val="F4B183"/>
                </a:solidFill>
                <a:latin typeface="PT Sans Caption" panose="020B0603020203020204" pitchFamily="34" charset="77"/>
              </a:rPr>
              <a:t>Description de l’entreprise 📇</a:t>
            </a:r>
          </a:p>
          <a:p>
            <a:pPr marL="0" indent="0">
              <a:buNone/>
            </a:pPr>
            <a:r>
              <a:rPr lang="fr-FR" sz="1700" dirty="0">
                <a:solidFill>
                  <a:schemeClr val="bg1"/>
                </a:solidFill>
                <a:latin typeface="PT Sans Caption" panose="020B0603020203020204" pitchFamily="34" charset="77"/>
              </a:rPr>
              <a:t>Uber est l’une des startups les plus célèbres au monde.</a:t>
            </a:r>
          </a:p>
          <a:p>
            <a:pPr marL="0" indent="0">
              <a:buNone/>
            </a:pPr>
            <a:r>
              <a:rPr lang="fr-FR" sz="1700" dirty="0">
                <a:solidFill>
                  <a:schemeClr val="bg1"/>
                </a:solidFill>
                <a:latin typeface="PT Sans Caption" panose="020B0603020203020204" pitchFamily="34" charset="77"/>
              </a:rPr>
              <a:t>Elle a commencé comme une application de covoiturage pour les personnes n’ayant pas accès à un taxi.</a:t>
            </a:r>
          </a:p>
          <a:p>
            <a:pPr marL="0" indent="0">
              <a:buNone/>
            </a:pPr>
            <a:r>
              <a:rPr lang="fr-FR" sz="1700" dirty="0">
                <a:solidFill>
                  <a:schemeClr val="bg1"/>
                </a:solidFill>
                <a:latin typeface="PT Sans Caption" panose="020B0603020203020204" pitchFamily="34" charset="77"/>
              </a:rPr>
              <a:t>Aujourd’hui, Uber a étendu ses activités à :</a:t>
            </a:r>
          </a:p>
          <a:p>
            <a:r>
              <a:rPr lang="fr-FR" sz="1700" dirty="0">
                <a:solidFill>
                  <a:schemeClr val="bg1"/>
                </a:solidFill>
                <a:latin typeface="PT Sans Caption" panose="020B0603020203020204" pitchFamily="34" charset="77"/>
              </a:rPr>
              <a:t>Livraison de repas avec Uber </a:t>
            </a:r>
            <a:r>
              <a:rPr lang="fr-FR" sz="1700" dirty="0" err="1">
                <a:solidFill>
                  <a:schemeClr val="bg1"/>
                </a:solidFill>
                <a:latin typeface="PT Sans Caption" panose="020B0603020203020204" pitchFamily="34" charset="77"/>
              </a:rPr>
              <a:t>Eats</a:t>
            </a:r>
            <a:endParaRPr lang="fr-FR" sz="1700" dirty="0">
              <a:solidFill>
                <a:schemeClr val="bg1"/>
              </a:solidFill>
              <a:latin typeface="PT Sans Caption" panose="020B0603020203020204" pitchFamily="34" charset="77"/>
            </a:endParaRPr>
          </a:p>
          <a:p>
            <a:r>
              <a:rPr lang="fr-FR" sz="1700" dirty="0">
                <a:solidFill>
                  <a:schemeClr val="bg1"/>
                </a:solidFill>
                <a:latin typeface="PT Sans Caption" panose="020B0603020203020204" pitchFamily="34" charset="77"/>
              </a:rPr>
              <a:t>Livraison de colis</a:t>
            </a:r>
          </a:p>
          <a:p>
            <a:r>
              <a:rPr lang="fr-FR" sz="1700" dirty="0">
                <a:solidFill>
                  <a:schemeClr val="bg1"/>
                </a:solidFill>
                <a:latin typeface="PT Sans Caption" panose="020B0603020203020204" pitchFamily="34" charset="77"/>
              </a:rPr>
              <a:t>Transport de marchandises</a:t>
            </a:r>
          </a:p>
          <a:p>
            <a:r>
              <a:rPr lang="fr-FR" sz="1700" dirty="0">
                <a:solidFill>
                  <a:schemeClr val="bg1"/>
                </a:solidFill>
                <a:latin typeface="PT Sans Caption" panose="020B0603020203020204" pitchFamily="34" charset="77"/>
              </a:rPr>
              <a:t>Mobilité urbaine avec Jump Bike et Lime (financés par Uber)</a:t>
            </a:r>
          </a:p>
          <a:p>
            <a:pPr marL="0" indent="0">
              <a:buNone/>
            </a:pPr>
            <a:r>
              <a:rPr lang="fr-FR" sz="1700" dirty="0">
                <a:solidFill>
                  <a:schemeClr val="bg1"/>
                </a:solidFill>
                <a:latin typeface="PT Sans Caption" panose="020B0603020203020204" pitchFamily="34" charset="77"/>
              </a:rPr>
              <a:t>Objectif de l’entreprise : révolutionner le transport à l’échelle mondiale</a:t>
            </a:r>
          </a:p>
          <a:p>
            <a:pPr marL="0" indent="0">
              <a:buNone/>
            </a:pPr>
            <a:r>
              <a:rPr lang="fr-FR" sz="1700" dirty="0">
                <a:solidFill>
                  <a:schemeClr val="bg1"/>
                </a:solidFill>
                <a:latin typeface="PT Sans Caption" panose="020B0603020203020204" pitchFamily="34" charset="77"/>
              </a:rPr>
              <a:t>Présente dans 70 pays et 900 villes, Uber génère plus de 14 milliards de dollars de chiffre d’affaires 😮</a:t>
            </a:r>
            <a:endParaRPr lang="fr-FR" sz="1500" dirty="0">
              <a:solidFill>
                <a:schemeClr val="bg1"/>
              </a:solidFill>
              <a:latin typeface="PT Sans Caption" panose="020B0603020203020204" pitchFamily="34" charset="77"/>
            </a:endParaRPr>
          </a:p>
        </p:txBody>
      </p:sp>
      <p:pic>
        <p:nvPicPr>
          <p:cNvPr id="9" name="Image 8">
            <a:extLst>
              <a:ext uri="{FF2B5EF4-FFF2-40B4-BE49-F238E27FC236}">
                <a16:creationId xmlns:a16="http://schemas.microsoft.com/office/drawing/2014/main" id="{77B5AE16-E83C-D9D7-36C1-BE0F3F87451A}"/>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3998768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8A5F4-A226-221B-185B-30F74BA6EFB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3670AD7-0DE8-FBAA-6884-57D878CAA819}"/>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Uber Pickups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39150DA4-363C-CA70-AD47-37BE06520276}"/>
              </a:ext>
            </a:extLst>
          </p:cNvPr>
          <p:cNvSpPr>
            <a:spLocks noGrp="1"/>
          </p:cNvSpPr>
          <p:nvPr>
            <p:ph idx="1"/>
          </p:nvPr>
        </p:nvSpPr>
        <p:spPr>
          <a:xfrm>
            <a:off x="367087" y="1919600"/>
            <a:ext cx="10675346" cy="4235015"/>
          </a:xfrm>
        </p:spPr>
        <p:txBody>
          <a:bodyPr>
            <a:noAutofit/>
          </a:bodyPr>
          <a:lstStyle/>
          <a:p>
            <a:pPr marL="0" indent="0" algn="ctr">
              <a:buNone/>
            </a:pPr>
            <a:r>
              <a:rPr lang="fr-FR" sz="1800" b="1" dirty="0">
                <a:solidFill>
                  <a:srgbClr val="F4B183"/>
                </a:solidFill>
                <a:latin typeface="PT Sans Caption" panose="020B0603020203020204" pitchFamily="34" charset="77"/>
              </a:rPr>
              <a:t>Projet 🚧</a:t>
            </a:r>
          </a:p>
          <a:p>
            <a:pPr marL="0" indent="0">
              <a:buNone/>
            </a:pPr>
            <a:r>
              <a:rPr lang="fr-FR" sz="1700" dirty="0">
                <a:solidFill>
                  <a:schemeClr val="bg1"/>
                </a:solidFill>
                <a:latin typeface="PT Sans Caption" panose="020B0603020203020204" pitchFamily="34" charset="77"/>
              </a:rPr>
              <a:t>Un problème identifié par Uber est que les conducteurs ne sont pas toujours au bon endroit au bon moment.</a:t>
            </a:r>
          </a:p>
          <a:p>
            <a:r>
              <a:rPr lang="fr-FR" sz="1700" dirty="0">
                <a:solidFill>
                  <a:schemeClr val="bg1"/>
                </a:solidFill>
                <a:latin typeface="PT Sans Caption" panose="020B0603020203020204" pitchFamily="34" charset="77"/>
              </a:rPr>
              <a:t>Exemple : un utilisateur se trouve dans le Financial District de San Francisco, alors que les chauffeurs sont dans le quartier Castro.</a:t>
            </a:r>
          </a:p>
          <a:p>
            <a:r>
              <a:rPr lang="fr-FR" sz="1700" dirty="0">
                <a:solidFill>
                  <a:schemeClr val="bg1"/>
                </a:solidFill>
                <a:latin typeface="PT Sans Caption" panose="020B0603020203020204" pitchFamily="34" charset="77"/>
              </a:rPr>
              <a:t>Même si ces quartiers sont proches, l’utilisateur doit attendre 10 à 15 minutes, alors qu’Uber a constaté que les utilisateurs acceptent généralement d’attendre 5 à 7 minutes avant d’annuler leur course.</a:t>
            </a:r>
          </a:p>
          <a:p>
            <a:pPr marL="0" indent="0">
              <a:buNone/>
            </a:pPr>
            <a:r>
              <a:rPr lang="fr-FR" sz="1700" dirty="0">
                <a:solidFill>
                  <a:schemeClr val="bg1"/>
                </a:solidFill>
                <a:latin typeface="PT Sans Caption" panose="020B0603020203020204" pitchFamily="34" charset="77"/>
              </a:rPr>
              <a:t>Pour résoudre ce problème, l’équipe data d’Uber souhaite développer un projet permettant à l’application de recommander des “hot-zones” dans les grandes villes selon l’heure de la journée, afin que les chauffeurs soient là où la demande est la plus forte.</a:t>
            </a:r>
            <a:endParaRPr lang="fr-FR" sz="1500" dirty="0">
              <a:solidFill>
                <a:schemeClr val="bg1"/>
              </a:solidFill>
              <a:latin typeface="PT Sans Caption" panose="020B0603020203020204" pitchFamily="34" charset="77"/>
            </a:endParaRPr>
          </a:p>
        </p:txBody>
      </p:sp>
      <p:pic>
        <p:nvPicPr>
          <p:cNvPr id="9" name="Image 8">
            <a:extLst>
              <a:ext uri="{FF2B5EF4-FFF2-40B4-BE49-F238E27FC236}">
                <a16:creationId xmlns:a16="http://schemas.microsoft.com/office/drawing/2014/main" id="{BA848C96-5F18-FEEE-098F-134CC5234DB4}"/>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831403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849A8-32E3-E032-3ED0-D30E01CB49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274E01-BB67-2740-2B79-11B3EC0E834C}"/>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Uber Pickups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2824B704-0A1F-923F-C5F5-7B248BBA89CF}"/>
              </a:ext>
            </a:extLst>
          </p:cNvPr>
          <p:cNvSpPr>
            <a:spLocks noGrp="1"/>
          </p:cNvSpPr>
          <p:nvPr>
            <p:ph idx="1"/>
          </p:nvPr>
        </p:nvSpPr>
        <p:spPr>
          <a:xfrm>
            <a:off x="367087" y="1919600"/>
            <a:ext cx="10675346" cy="4235015"/>
          </a:xfrm>
        </p:spPr>
        <p:txBody>
          <a:bodyPr>
            <a:noAutofit/>
          </a:bodyPr>
          <a:lstStyle/>
          <a:p>
            <a:pPr marL="0" indent="0" algn="ctr">
              <a:buNone/>
            </a:pPr>
            <a:r>
              <a:rPr lang="fr-FR" sz="1800" b="1" dirty="0">
                <a:solidFill>
                  <a:srgbClr val="F4B183"/>
                </a:solidFill>
                <a:latin typeface="PT Sans Caption" panose="020B0603020203020204" pitchFamily="34" charset="77"/>
              </a:rPr>
              <a:t>Objectifs du projet 🎯</a:t>
            </a:r>
          </a:p>
          <a:p>
            <a:pPr marL="0" indent="0" algn="ctr">
              <a:buNone/>
            </a:pPr>
            <a:endParaRPr lang="fr-FR" sz="1800" b="1" dirty="0">
              <a:solidFill>
                <a:srgbClr val="F4B183"/>
              </a:solidFill>
              <a:latin typeface="PT Sans Caption" panose="020B0603020203020204" pitchFamily="34" charset="77"/>
            </a:endParaRPr>
          </a:p>
          <a:p>
            <a:pPr marL="0" indent="0">
              <a:buNone/>
            </a:pPr>
            <a:r>
              <a:rPr lang="fr-FR" sz="1700" dirty="0">
                <a:solidFill>
                  <a:schemeClr val="bg1"/>
                </a:solidFill>
                <a:latin typeface="PT Sans Caption" panose="020B0603020203020204" pitchFamily="34" charset="77"/>
              </a:rPr>
              <a:t>Uber dispose déjà de données sur les prises en charge dans les grandes villes.</a:t>
            </a:r>
          </a:p>
          <a:p>
            <a:pPr marL="0" indent="0">
              <a:buNone/>
            </a:pPr>
            <a:r>
              <a:rPr lang="fr-FR" sz="1700" dirty="0">
                <a:solidFill>
                  <a:schemeClr val="bg1"/>
                </a:solidFill>
                <a:latin typeface="PT Sans Caption" panose="020B0603020203020204" pitchFamily="34" charset="77"/>
              </a:rPr>
              <a:t>Votre mission est de créer des algorithmes capables d’identifier les “hot-zones”, c’est-à-dire les zones où les chauffeurs devraient se positionner à chaque moment de la journée.</a:t>
            </a:r>
          </a:p>
          <a:p>
            <a:r>
              <a:rPr lang="fr-FR" sz="1700" dirty="0">
                <a:solidFill>
                  <a:schemeClr val="bg1"/>
                </a:solidFill>
                <a:latin typeface="PT Sans Caption" panose="020B0603020203020204" pitchFamily="34" charset="77"/>
              </a:rPr>
              <a:t>Étape 1 : créer un algorithme pour détecter les hot-zones</a:t>
            </a:r>
          </a:p>
          <a:p>
            <a:r>
              <a:rPr lang="fr-FR" sz="1700" dirty="0">
                <a:solidFill>
                  <a:schemeClr val="bg1"/>
                </a:solidFill>
                <a:latin typeface="PT Sans Caption" panose="020B0603020203020204" pitchFamily="34" charset="77"/>
              </a:rPr>
              <a:t>Étape 2 : visualiser les résultats sur un tableau de bord clair et interactif</a:t>
            </a:r>
          </a:p>
        </p:txBody>
      </p:sp>
      <p:pic>
        <p:nvPicPr>
          <p:cNvPr id="9" name="Image 8">
            <a:extLst>
              <a:ext uri="{FF2B5EF4-FFF2-40B4-BE49-F238E27FC236}">
                <a16:creationId xmlns:a16="http://schemas.microsoft.com/office/drawing/2014/main" id="{6D00F2A6-9751-2467-4F17-4DAFF380183E}"/>
              </a:ext>
            </a:extLst>
          </p:cNvPr>
          <p:cNvPicPr>
            <a:picLocks noChangeAspect="1"/>
          </p:cNvPicPr>
          <p:nvPr/>
        </p:nvPicPr>
        <p:blipFill>
          <a:blip r:embed="rId3"/>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442527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89B7B-B4D5-79CC-0159-9F26EEDB9B5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F6D2610-5318-EFA6-D21E-6DD8F6C10693}"/>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Uber Pickups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CE8D2A52-27FD-69BE-229D-1C1CD185FD0F}"/>
              </a:ext>
            </a:extLst>
          </p:cNvPr>
          <p:cNvSpPr>
            <a:spLocks noGrp="1"/>
          </p:cNvSpPr>
          <p:nvPr>
            <p:ph idx="1"/>
          </p:nvPr>
        </p:nvSpPr>
        <p:spPr>
          <a:xfrm>
            <a:off x="367087" y="1919600"/>
            <a:ext cx="10675346" cy="4235015"/>
          </a:xfrm>
        </p:spPr>
        <p:txBody>
          <a:bodyPr>
            <a:noAutofit/>
          </a:bodyPr>
          <a:lstStyle/>
          <a:p>
            <a:pPr marL="0" indent="0" algn="ctr">
              <a:buNone/>
            </a:pPr>
            <a:r>
              <a:rPr lang="fr-FR" sz="1800" b="1" dirty="0">
                <a:solidFill>
                  <a:srgbClr val="F4B183"/>
                </a:solidFill>
                <a:latin typeface="PT Sans Caption" panose="020B0603020203020204" pitchFamily="34" charset="77"/>
              </a:rPr>
              <a:t>Périmètre du projet 🖼️</a:t>
            </a:r>
          </a:p>
          <a:p>
            <a:pPr marL="0" indent="0" algn="ctr">
              <a:buNone/>
            </a:pPr>
            <a:endParaRPr lang="fr-FR" sz="1800" b="1" dirty="0">
              <a:solidFill>
                <a:srgbClr val="F4B183"/>
              </a:solidFill>
              <a:latin typeface="PT Sans Caption" panose="020B0603020203020204" pitchFamily="34" charset="77"/>
            </a:endParaRPr>
          </a:p>
          <a:p>
            <a:pPr marL="0" indent="0">
              <a:buNone/>
            </a:pPr>
            <a:r>
              <a:rPr lang="fr-FR" sz="1700" dirty="0">
                <a:solidFill>
                  <a:schemeClr val="bg1"/>
                </a:solidFill>
                <a:latin typeface="PT Sans Caption" panose="020B0603020203020204" pitchFamily="34" charset="77"/>
              </a:rPr>
              <a:t>Pour commencer, Uber souhaite tester cette fonctionnalité à New York.</a:t>
            </a:r>
          </a:p>
          <a:p>
            <a:r>
              <a:rPr lang="fr-FR" sz="1700" dirty="0">
                <a:solidFill>
                  <a:schemeClr val="bg1"/>
                </a:solidFill>
                <a:latin typeface="PT Sans Caption" panose="020B0603020203020204" pitchFamily="34" charset="77"/>
              </a:rPr>
              <a:t>Vous concentrerez donc votre projet uniquement sur New York City.</a:t>
            </a:r>
          </a:p>
          <a:p>
            <a:r>
              <a:rPr lang="fr-FR" sz="1700" dirty="0">
                <a:solidFill>
                  <a:schemeClr val="bg1"/>
                </a:solidFill>
                <a:latin typeface="PT Sans Caption" panose="020B0603020203020204" pitchFamily="34" charset="77"/>
              </a:rPr>
              <a:t>Les données nécessaires sont disponibles ici : </a:t>
            </a:r>
            <a:r>
              <a:rPr lang="fr-FR" sz="1700" b="1" dirty="0">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Uber Trip Data</a:t>
            </a:r>
            <a:endParaRPr lang="fr-FR" sz="1700" b="1" dirty="0">
              <a:solidFill>
                <a:srgbClr val="F4B183"/>
              </a:solidFill>
              <a:latin typeface="PT Sans Caption" panose="020B0603020203020204" pitchFamily="34" charset="77"/>
            </a:endParaRPr>
          </a:p>
          <a:p>
            <a:pPr marL="0" indent="0">
              <a:buNone/>
            </a:pPr>
            <a:r>
              <a:rPr lang="fr-FR" sz="1700" dirty="0">
                <a:solidFill>
                  <a:schemeClr val="bg1"/>
                </a:solidFill>
                <a:latin typeface="PT Sans Caption" panose="020B0603020203020204" pitchFamily="34" charset="77"/>
              </a:rPr>
              <a:t>L’objectif est de proposer un prototype de détection de hot-zones pour cette ville avant de généraliser à d’autres zones.</a:t>
            </a:r>
          </a:p>
        </p:txBody>
      </p:sp>
      <p:pic>
        <p:nvPicPr>
          <p:cNvPr id="9" name="Image 8">
            <a:extLst>
              <a:ext uri="{FF2B5EF4-FFF2-40B4-BE49-F238E27FC236}">
                <a16:creationId xmlns:a16="http://schemas.microsoft.com/office/drawing/2014/main" id="{2A08D225-D87E-AC59-2F9B-BC18B0E8B011}"/>
              </a:ext>
            </a:extLst>
          </p:cNvPr>
          <p:cNvPicPr>
            <a:picLocks noChangeAspect="1"/>
          </p:cNvPicPr>
          <p:nvPr/>
        </p:nvPicPr>
        <p:blipFill>
          <a:blip r:embed="rId4"/>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523859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318AE-5D60-8C52-DF32-A1AB2078AA8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47D0E41-5E24-723A-BB2C-95D77D76F168}"/>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Uber Pickups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9C15874A-90D2-1E7F-897E-8584017C2128}"/>
              </a:ext>
            </a:extLst>
          </p:cNvPr>
          <p:cNvSpPr>
            <a:spLocks noGrp="1"/>
          </p:cNvSpPr>
          <p:nvPr>
            <p:ph idx="1"/>
          </p:nvPr>
        </p:nvSpPr>
        <p:spPr>
          <a:xfrm>
            <a:off x="367087" y="1919600"/>
            <a:ext cx="10675346" cy="4598431"/>
          </a:xfrm>
        </p:spPr>
        <p:txBody>
          <a:bodyPr>
            <a:noAutofit/>
          </a:bodyPr>
          <a:lstStyle/>
          <a:p>
            <a:pPr marL="0" indent="0" algn="ctr">
              <a:buNone/>
            </a:pPr>
            <a:r>
              <a:rPr lang="fr-FR" sz="1800" b="1" dirty="0">
                <a:solidFill>
                  <a:srgbClr val="F4B183"/>
                </a:solidFill>
                <a:latin typeface="PT Sans Caption" panose="020B0603020203020204" pitchFamily="34" charset="77"/>
              </a:rPr>
              <a:t>Helpers 🦮</a:t>
            </a:r>
          </a:p>
          <a:p>
            <a:pPr marL="0" indent="0">
              <a:buNone/>
            </a:pPr>
            <a:r>
              <a:rPr lang="fr-FR" sz="1700" dirty="0">
                <a:solidFill>
                  <a:schemeClr val="bg1"/>
                </a:solidFill>
                <a:latin typeface="PT Sans Caption" panose="020B0603020203020204" pitchFamily="34" charset="77"/>
              </a:rPr>
              <a:t>Pour vous aider dans ce projet :</a:t>
            </a:r>
          </a:p>
          <a:p>
            <a:r>
              <a:rPr lang="fr-FR" sz="1700" dirty="0">
                <a:solidFill>
                  <a:schemeClr val="bg1"/>
                </a:solidFill>
                <a:latin typeface="PT Sans Caption" panose="020B0603020203020204" pitchFamily="34" charset="77"/>
              </a:rPr>
              <a:t>Le clustering est votre allié</a:t>
            </a:r>
          </a:p>
          <a:p>
            <a:pPr marL="0" indent="0">
              <a:buNone/>
            </a:pPr>
            <a:r>
              <a:rPr lang="fr-FR" sz="1700" dirty="0">
                <a:solidFill>
                  <a:schemeClr val="bg1"/>
                </a:solidFill>
                <a:latin typeface="PT Sans Caption" panose="020B0603020203020204" pitchFamily="34" charset="77"/>
              </a:rPr>
              <a:t>Les techniques de clustering sont idéales pour regrouper les points de prise en charge.</a:t>
            </a:r>
          </a:p>
          <a:p>
            <a:pPr marL="0" indent="0">
              <a:buNone/>
            </a:pPr>
            <a:r>
              <a:rPr lang="fr-FR" sz="1700" dirty="0">
                <a:solidFill>
                  <a:schemeClr val="bg1"/>
                </a:solidFill>
                <a:latin typeface="PT Sans Caption" panose="020B0603020203020204" pitchFamily="34" charset="77"/>
              </a:rPr>
              <a:t>Une fois les clusters créés, leurs coordonnées peuvent définir les hot-zones.</a:t>
            </a:r>
          </a:p>
          <a:p>
            <a:r>
              <a:rPr lang="fr-FR" sz="1700" dirty="0">
                <a:solidFill>
                  <a:schemeClr val="bg1"/>
                </a:solidFill>
                <a:latin typeface="PT Sans Caption" panose="020B0603020203020204" pitchFamily="34" charset="77"/>
              </a:rPr>
              <a:t>Créer des cartes avec </a:t>
            </a:r>
            <a:r>
              <a:rPr lang="fr-FR" sz="1700" dirty="0" err="1">
                <a:solidFill>
                  <a:schemeClr val="bg1"/>
                </a:solidFill>
                <a:latin typeface="PT Sans Caption" panose="020B0603020203020204" pitchFamily="34" charset="77"/>
              </a:rPr>
              <a:t>Plotly</a:t>
            </a:r>
            <a:endParaRPr lang="fr-FR" sz="1700" dirty="0">
              <a:solidFill>
                <a:schemeClr val="bg1"/>
              </a:solidFill>
              <a:latin typeface="PT Sans Caption" panose="020B0603020203020204" pitchFamily="34" charset="77"/>
            </a:endParaRPr>
          </a:p>
          <a:p>
            <a:pPr marL="0" indent="0">
              <a:buNone/>
            </a:pPr>
            <a:r>
              <a:rPr lang="fr-FR" sz="1700" dirty="0" err="1">
                <a:solidFill>
                  <a:srgbClr val="F4B183"/>
                </a:solidFill>
                <a:latin typeface="PT Sans Caption" panose="020B0603020203020204" pitchFamily="34" charset="77"/>
                <a:hlinkClick r:id="rId3">
                  <a:extLst>
                    <a:ext uri="{A12FA001-AC4F-418D-AE19-62706E023703}">
                      <ahyp:hlinkClr xmlns:ahyp="http://schemas.microsoft.com/office/drawing/2018/hyperlinkcolor" val="tx"/>
                    </a:ext>
                  </a:extLst>
                </a:hlinkClick>
              </a:rPr>
              <a:t>Plotly</a:t>
            </a:r>
            <a:r>
              <a:rPr lang="fr-FR" sz="1700" dirty="0">
                <a:solidFill>
                  <a:schemeClr val="bg1"/>
                </a:solidFill>
                <a:latin typeface="PT Sans Caption" panose="020B0603020203020204" pitchFamily="34" charset="77"/>
              </a:rPr>
              <a:t> permet de créer facilement des cartes interactives et d’y placer vos clusters.</a:t>
            </a:r>
          </a:p>
          <a:p>
            <a:pPr marL="0" indent="0">
              <a:buNone/>
            </a:pPr>
            <a:r>
              <a:rPr lang="fr-FR" sz="1700" dirty="0">
                <a:solidFill>
                  <a:schemeClr val="bg1"/>
                </a:solidFill>
                <a:latin typeface="PT Sans Caption" panose="020B0603020203020204" pitchFamily="34" charset="77"/>
              </a:rPr>
              <a:t>D’autres bibliothèques existent, mais </a:t>
            </a:r>
            <a:r>
              <a:rPr lang="fr-FR" sz="1700" dirty="0" err="1">
                <a:solidFill>
                  <a:schemeClr val="bg1"/>
                </a:solidFill>
                <a:latin typeface="PT Sans Caption" panose="020B0603020203020204" pitchFamily="34" charset="77"/>
              </a:rPr>
              <a:t>Plotly</a:t>
            </a:r>
            <a:r>
              <a:rPr lang="fr-FR" sz="1700" dirty="0">
                <a:solidFill>
                  <a:schemeClr val="bg1"/>
                </a:solidFill>
                <a:latin typeface="PT Sans Caption" panose="020B0603020203020204" pitchFamily="34" charset="77"/>
              </a:rPr>
              <a:t> est suffisant pour ce projet.</a:t>
            </a:r>
          </a:p>
          <a:p>
            <a:r>
              <a:rPr lang="fr-FR" sz="1700" dirty="0">
                <a:solidFill>
                  <a:schemeClr val="bg1"/>
                </a:solidFill>
                <a:latin typeface="PT Sans Caption" panose="020B0603020203020204" pitchFamily="34" charset="77"/>
              </a:rPr>
              <a:t>Commencer petit puis généraliser</a:t>
            </a:r>
          </a:p>
          <a:p>
            <a:pPr marL="0" indent="0">
              <a:buNone/>
            </a:pPr>
            <a:r>
              <a:rPr lang="fr-FR" sz="1700" dirty="0">
                <a:solidFill>
                  <a:schemeClr val="bg1"/>
                </a:solidFill>
                <a:latin typeface="PT Sans Caption" panose="020B0603020203020204" pitchFamily="34" charset="77"/>
              </a:rPr>
              <a:t>Uber souhaite des hot-zones par heure et par jour de la semaine, mais commencez par un seul jour et une seule heure.</a:t>
            </a:r>
          </a:p>
          <a:p>
            <a:pPr marL="0" indent="0">
              <a:buNone/>
            </a:pPr>
            <a:r>
              <a:rPr lang="fr-FR" sz="1700" dirty="0">
                <a:solidFill>
                  <a:schemeClr val="bg1"/>
                </a:solidFill>
                <a:latin typeface="PT Sans Caption" panose="020B0603020203020204" pitchFamily="34" charset="77"/>
              </a:rPr>
              <a:t>Une fois la méthode validée, vous pourrez étendre l’analyse à toutes les périodes.</a:t>
            </a:r>
          </a:p>
        </p:txBody>
      </p:sp>
      <p:pic>
        <p:nvPicPr>
          <p:cNvPr id="9" name="Image 8">
            <a:extLst>
              <a:ext uri="{FF2B5EF4-FFF2-40B4-BE49-F238E27FC236}">
                <a16:creationId xmlns:a16="http://schemas.microsoft.com/office/drawing/2014/main" id="{009D2FB2-7C9E-E9FE-2AF8-417500E500A2}"/>
              </a:ext>
            </a:extLst>
          </p:cNvPr>
          <p:cNvPicPr>
            <a:picLocks noChangeAspect="1"/>
          </p:cNvPicPr>
          <p:nvPr/>
        </p:nvPicPr>
        <p:blipFill>
          <a:blip r:embed="rId4"/>
          <a:stretch>
            <a:fillRect/>
          </a:stretch>
        </p:blipFill>
        <p:spPr>
          <a:xfrm rot="10800000">
            <a:off x="8851900" y="90436"/>
            <a:ext cx="3340100" cy="3009900"/>
          </a:xfrm>
          <a:prstGeom prst="rect">
            <a:avLst/>
          </a:prstGeom>
        </p:spPr>
      </p:pic>
    </p:spTree>
    <p:extLst>
      <p:ext uri="{BB962C8B-B14F-4D97-AF65-F5344CB8AC3E}">
        <p14:creationId xmlns:p14="http://schemas.microsoft.com/office/powerpoint/2010/main" val="1391777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7CD2C-FE11-0849-6509-35F8D6D80E2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6EDAE96-15FD-5A09-459D-A884F1C18276}"/>
              </a:ext>
            </a:extLst>
          </p:cNvPr>
          <p:cNvSpPr>
            <a:spLocks noGrp="1"/>
          </p:cNvSpPr>
          <p:nvPr>
            <p:ph type="title"/>
          </p:nvPr>
        </p:nvSpPr>
        <p:spPr>
          <a:xfrm>
            <a:off x="838200" y="613114"/>
            <a:ext cx="10515600" cy="1325563"/>
          </a:xfrm>
        </p:spPr>
        <p:txBody>
          <a:bodyPr>
            <a:noAutofit/>
          </a:bodyPr>
          <a:lstStyle/>
          <a:p>
            <a:pPr algn="ctr"/>
            <a:r>
              <a:rPr lang="fr-FR" b="1" dirty="0">
                <a:solidFill>
                  <a:schemeClr val="bg1"/>
                </a:solidFill>
                <a:latin typeface="PT Sans Caption" panose="020B0603020203020204" pitchFamily="34" charset="77"/>
              </a:rPr>
              <a:t>Machine Learning </a:t>
            </a:r>
            <a:r>
              <a:rPr lang="fr-FR" b="1" dirty="0" err="1">
                <a:solidFill>
                  <a:schemeClr val="bg1"/>
                </a:solidFill>
                <a:latin typeface="PT Sans Caption" panose="020B0603020203020204" pitchFamily="34" charset="77"/>
              </a:rPr>
              <a:t>Projects</a:t>
            </a:r>
            <a:br>
              <a:rPr lang="fr-FR" b="1" dirty="0">
                <a:solidFill>
                  <a:schemeClr val="bg1"/>
                </a:solidFill>
                <a:latin typeface="PT Sans Caption" panose="020B0603020203020204" pitchFamily="34" charset="77"/>
              </a:rPr>
            </a:br>
            <a:r>
              <a:rPr lang="fr-FR" sz="3200" b="1" dirty="0">
                <a:solidFill>
                  <a:schemeClr val="bg1"/>
                </a:solidFill>
                <a:latin typeface="PT Sans Caption" panose="020B0603020203020204" pitchFamily="34" charset="77"/>
              </a:rPr>
              <a:t>Uber Pickups 🚕</a:t>
            </a:r>
            <a:endParaRPr lang="fr-FR" b="1" dirty="0">
              <a:solidFill>
                <a:schemeClr val="bg1"/>
              </a:solidFill>
              <a:latin typeface="PT Sans Caption" panose="020B0603020203020204" pitchFamily="34" charset="77"/>
            </a:endParaRPr>
          </a:p>
        </p:txBody>
      </p:sp>
      <p:sp>
        <p:nvSpPr>
          <p:cNvPr id="6" name="Espace réservé du contenu 2">
            <a:extLst>
              <a:ext uri="{FF2B5EF4-FFF2-40B4-BE49-F238E27FC236}">
                <a16:creationId xmlns:a16="http://schemas.microsoft.com/office/drawing/2014/main" id="{29680A38-5FE2-0144-D22E-D2FADD029619}"/>
              </a:ext>
            </a:extLst>
          </p:cNvPr>
          <p:cNvSpPr>
            <a:spLocks noGrp="1"/>
          </p:cNvSpPr>
          <p:nvPr>
            <p:ph idx="1"/>
          </p:nvPr>
        </p:nvSpPr>
        <p:spPr>
          <a:xfrm>
            <a:off x="367088" y="1919600"/>
            <a:ext cx="6092328" cy="4598431"/>
          </a:xfrm>
        </p:spPr>
        <p:txBody>
          <a:bodyPr>
            <a:noAutofit/>
          </a:bodyPr>
          <a:lstStyle/>
          <a:p>
            <a:pPr marL="0" indent="0" algn="ctr">
              <a:buNone/>
            </a:pPr>
            <a:r>
              <a:rPr lang="fr-FR" sz="1800" b="1" dirty="0">
                <a:solidFill>
                  <a:srgbClr val="F4B183"/>
                </a:solidFill>
                <a:latin typeface="PT Sans Caption" panose="020B0603020203020204" pitchFamily="34" charset="77"/>
              </a:rPr>
              <a:t>Livrables 📬</a:t>
            </a:r>
          </a:p>
          <a:p>
            <a:pPr marL="0" indent="0">
              <a:buNone/>
            </a:pPr>
            <a:r>
              <a:rPr lang="fr-FR" sz="1700" dirty="0">
                <a:solidFill>
                  <a:schemeClr val="bg1"/>
                </a:solidFill>
                <a:latin typeface="PT Sans Caption" panose="020B0603020203020204" pitchFamily="34" charset="77"/>
              </a:rPr>
              <a:t>Pour valider ce projet, votre équipe doit fournir :</a:t>
            </a:r>
          </a:p>
          <a:p>
            <a:r>
              <a:rPr lang="fr-FR" sz="1700" dirty="0">
                <a:solidFill>
                  <a:schemeClr val="bg1"/>
                </a:solidFill>
                <a:latin typeface="PT Sans Caption" panose="020B0603020203020204" pitchFamily="34" charset="77"/>
              </a:rPr>
              <a:t>Une carte avec les hot-zones : vous pouvez utiliser </a:t>
            </a:r>
            <a:r>
              <a:rPr lang="fr-FR" sz="1700" dirty="0" err="1">
                <a:solidFill>
                  <a:schemeClr val="bg1"/>
                </a:solidFill>
                <a:latin typeface="PT Sans Caption" panose="020B0603020203020204" pitchFamily="34" charset="77"/>
              </a:rPr>
              <a:t>Plotly</a:t>
            </a:r>
            <a:r>
              <a:rPr lang="fr-FR" sz="1700" dirty="0">
                <a:solidFill>
                  <a:schemeClr val="bg1"/>
                </a:solidFill>
                <a:latin typeface="PT Sans Caption" panose="020B0603020203020204" pitchFamily="34" charset="77"/>
              </a:rPr>
              <a:t> ou toute autre bibliothèque Python.</a:t>
            </a:r>
          </a:p>
          <a:p>
            <a:r>
              <a:rPr lang="fr-FR" sz="1700" dirty="0">
                <a:solidFill>
                  <a:schemeClr val="bg1"/>
                </a:solidFill>
                <a:latin typeface="PT Sans Caption" panose="020B0603020203020204" pitchFamily="34" charset="77"/>
              </a:rPr>
              <a:t>Description des hot-zones : au minimum par jour de la semaine.</a:t>
            </a:r>
          </a:p>
          <a:p>
            <a:r>
              <a:rPr lang="fr-FR" sz="1700" dirty="0">
                <a:solidFill>
                  <a:schemeClr val="bg1"/>
                </a:solidFill>
                <a:latin typeface="PT Sans Caption" panose="020B0603020203020204" pitchFamily="34" charset="77"/>
              </a:rPr>
              <a:t>Comparaison des résultats : utilisez au moins deux algorithmes non supervisés comme K-</a:t>
            </a:r>
            <a:r>
              <a:rPr lang="fr-FR" sz="1700" dirty="0" err="1">
                <a:solidFill>
                  <a:schemeClr val="bg1"/>
                </a:solidFill>
                <a:latin typeface="PT Sans Caption" panose="020B0603020203020204" pitchFamily="34" charset="77"/>
              </a:rPr>
              <a:t>Means</a:t>
            </a:r>
            <a:r>
              <a:rPr lang="fr-FR" sz="1700" dirty="0">
                <a:solidFill>
                  <a:schemeClr val="bg1"/>
                </a:solidFill>
                <a:latin typeface="PT Sans Caption" panose="020B0603020203020204" pitchFamily="34" charset="77"/>
              </a:rPr>
              <a:t> et DBSCAN.</a:t>
            </a:r>
          </a:p>
          <a:p>
            <a:pPr marL="0" indent="0">
              <a:buNone/>
            </a:pPr>
            <a:r>
              <a:rPr lang="fr-FR" sz="1700" dirty="0">
                <a:solidFill>
                  <a:schemeClr val="bg1"/>
                </a:solidFill>
                <a:latin typeface="PT Sans Caption" panose="020B0603020203020204" pitchFamily="34" charset="77"/>
              </a:rPr>
              <a:t>Les cartes doivent permettre de visualiser clairement les zones où les chauffeurs doivent se positionner.</a:t>
            </a:r>
          </a:p>
        </p:txBody>
      </p:sp>
      <p:pic>
        <p:nvPicPr>
          <p:cNvPr id="9" name="Image 8">
            <a:extLst>
              <a:ext uri="{FF2B5EF4-FFF2-40B4-BE49-F238E27FC236}">
                <a16:creationId xmlns:a16="http://schemas.microsoft.com/office/drawing/2014/main" id="{7235BEBC-7209-4D98-1650-0DA32C68B3E1}"/>
              </a:ext>
            </a:extLst>
          </p:cNvPr>
          <p:cNvPicPr>
            <a:picLocks noChangeAspect="1"/>
          </p:cNvPicPr>
          <p:nvPr/>
        </p:nvPicPr>
        <p:blipFill>
          <a:blip r:embed="rId3"/>
          <a:stretch>
            <a:fillRect/>
          </a:stretch>
        </p:blipFill>
        <p:spPr>
          <a:xfrm rot="10800000">
            <a:off x="8851900" y="90436"/>
            <a:ext cx="3340100" cy="3009900"/>
          </a:xfrm>
          <a:prstGeom prst="rect">
            <a:avLst/>
          </a:prstGeom>
        </p:spPr>
      </p:pic>
      <p:pic>
        <p:nvPicPr>
          <p:cNvPr id="3" name="Image 2">
            <a:extLst>
              <a:ext uri="{FF2B5EF4-FFF2-40B4-BE49-F238E27FC236}">
                <a16:creationId xmlns:a16="http://schemas.microsoft.com/office/drawing/2014/main" id="{5BFCDC4C-79F2-44EE-CFD5-7B92044FFFDF}"/>
              </a:ext>
            </a:extLst>
          </p:cNvPr>
          <p:cNvPicPr>
            <a:picLocks noChangeAspect="1"/>
          </p:cNvPicPr>
          <p:nvPr/>
        </p:nvPicPr>
        <p:blipFill>
          <a:blip r:embed="rId4"/>
          <a:stretch>
            <a:fillRect/>
          </a:stretch>
        </p:blipFill>
        <p:spPr>
          <a:xfrm>
            <a:off x="6908800" y="2461356"/>
            <a:ext cx="4445000" cy="2857500"/>
          </a:xfrm>
          <a:prstGeom prst="rect">
            <a:avLst/>
          </a:prstGeom>
        </p:spPr>
      </p:pic>
    </p:spTree>
    <p:extLst>
      <p:ext uri="{BB962C8B-B14F-4D97-AF65-F5344CB8AC3E}">
        <p14:creationId xmlns:p14="http://schemas.microsoft.com/office/powerpoint/2010/main" val="990495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0D321-2D48-3DBD-16D2-FE82AC7842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DF54A95-8BC2-D02C-BAE7-AF39462FF004}"/>
              </a:ext>
            </a:extLst>
          </p:cNvPr>
          <p:cNvSpPr>
            <a:spLocks noGrp="1"/>
          </p:cNvSpPr>
          <p:nvPr>
            <p:ph type="title"/>
          </p:nvPr>
        </p:nvSpPr>
        <p:spPr>
          <a:xfrm>
            <a:off x="838200" y="684188"/>
            <a:ext cx="10515600" cy="1325563"/>
          </a:xfrm>
        </p:spPr>
        <p:txBody>
          <a:bodyPr>
            <a:noAutofit/>
          </a:bodyPr>
          <a:lstStyle/>
          <a:p>
            <a:pPr algn="ctr"/>
            <a:r>
              <a:rPr lang="fr-FR" sz="6600" b="1" dirty="0" err="1">
                <a:solidFill>
                  <a:schemeClr val="bg1"/>
                </a:solidFill>
                <a:latin typeface="PT Sans Caption" panose="020B0603020203020204" pitchFamily="34" charset="77"/>
              </a:rPr>
              <a:t>Afternoon</a:t>
            </a:r>
            <a:r>
              <a:rPr lang="fr-FR" sz="6600" b="1">
                <a:solidFill>
                  <a:schemeClr val="bg1"/>
                </a:solidFill>
                <a:latin typeface="PT Sans Caption" panose="020B0603020203020204" pitchFamily="34" charset="77"/>
              </a:rPr>
              <a:t> Exercices</a:t>
            </a:r>
            <a:endParaRPr lang="fr-FR" sz="6600" b="1" dirty="0">
              <a:solidFill>
                <a:schemeClr val="bg1"/>
              </a:solidFill>
              <a:latin typeface="PT Sans Caption" panose="020B0603020203020204" pitchFamily="34" charset="77"/>
            </a:endParaRPr>
          </a:p>
        </p:txBody>
      </p:sp>
      <p:pic>
        <p:nvPicPr>
          <p:cNvPr id="9" name="Image 8">
            <a:extLst>
              <a:ext uri="{FF2B5EF4-FFF2-40B4-BE49-F238E27FC236}">
                <a16:creationId xmlns:a16="http://schemas.microsoft.com/office/drawing/2014/main" id="{717848B4-813B-1E70-266F-BD0573351CB9}"/>
              </a:ext>
            </a:extLst>
          </p:cNvPr>
          <p:cNvPicPr>
            <a:picLocks noChangeAspect="1"/>
          </p:cNvPicPr>
          <p:nvPr/>
        </p:nvPicPr>
        <p:blipFill>
          <a:blip r:embed="rId2"/>
          <a:stretch>
            <a:fillRect/>
          </a:stretch>
        </p:blipFill>
        <p:spPr>
          <a:xfrm rot="10800000">
            <a:off x="8851900" y="90436"/>
            <a:ext cx="3340100" cy="3009900"/>
          </a:xfrm>
          <a:prstGeom prst="rect">
            <a:avLst/>
          </a:prstGeom>
        </p:spPr>
      </p:pic>
      <p:sp>
        <p:nvSpPr>
          <p:cNvPr id="3" name="ZoneTexte 2">
            <a:extLst>
              <a:ext uri="{FF2B5EF4-FFF2-40B4-BE49-F238E27FC236}">
                <a16:creationId xmlns:a16="http://schemas.microsoft.com/office/drawing/2014/main" id="{DCBEAC90-C457-EEA8-8FA6-99953D406E38}"/>
              </a:ext>
            </a:extLst>
          </p:cNvPr>
          <p:cNvSpPr txBox="1"/>
          <p:nvPr/>
        </p:nvSpPr>
        <p:spPr>
          <a:xfrm>
            <a:off x="441960" y="2828835"/>
            <a:ext cx="10759440" cy="1754326"/>
          </a:xfrm>
          <a:prstGeom prst="rect">
            <a:avLst/>
          </a:prstGeom>
          <a:noFill/>
        </p:spPr>
        <p:txBody>
          <a:bodyPr wrap="square" rtlCol="0">
            <a:spAutoFit/>
          </a:bodyPr>
          <a:lstStyle/>
          <a:p>
            <a:pPr marL="571500" indent="-571500" algn="ctr">
              <a:buFont typeface="Arial" panose="020B0604020202020204" pitchFamily="34" charset="0"/>
              <a:buChar char="•"/>
            </a:pPr>
            <a:r>
              <a:rPr lang="fr-FR" sz="3600" b="1" dirty="0">
                <a:solidFill>
                  <a:schemeClr val="bg1"/>
                </a:solidFill>
                <a:latin typeface="PT Sans Caption" panose="020B0603020203020204" pitchFamily="34" charset="77"/>
              </a:rPr>
              <a:t>Walmart </a:t>
            </a:r>
            <a:r>
              <a:rPr lang="fr-FR" sz="3600" b="1" dirty="0" err="1">
                <a:solidFill>
                  <a:schemeClr val="bg1"/>
                </a:solidFill>
                <a:latin typeface="PT Sans Caption" panose="020B0603020203020204" pitchFamily="34" charset="77"/>
              </a:rPr>
              <a:t>Predict</a:t>
            </a:r>
            <a:r>
              <a:rPr lang="fr-FR" sz="3600" b="1" dirty="0">
                <a:solidFill>
                  <a:schemeClr val="bg1"/>
                </a:solidFill>
                <a:latin typeface="PT Sans Caption" panose="020B0603020203020204" pitchFamily="34" charset="77"/>
              </a:rPr>
              <a:t> Weekly Sales 🛒</a:t>
            </a:r>
          </a:p>
          <a:p>
            <a:pPr marL="571500" indent="-571500" algn="ctr">
              <a:buFont typeface="Arial" panose="020B0604020202020204" pitchFamily="34" charset="0"/>
              <a:buChar char="•"/>
            </a:pPr>
            <a:r>
              <a:rPr lang="fr-FR" sz="3600" b="1" dirty="0">
                <a:solidFill>
                  <a:schemeClr val="bg1"/>
                </a:solidFill>
                <a:latin typeface="PT Sans Caption" panose="020B0603020203020204" pitchFamily="34" charset="77"/>
              </a:rPr>
              <a:t>Conversion Rate </a:t>
            </a:r>
            <a:r>
              <a:rPr lang="fr-FR" sz="3600" b="1" dirty="0" err="1">
                <a:solidFill>
                  <a:schemeClr val="bg1"/>
                </a:solidFill>
                <a:latin typeface="PT Sans Caption" panose="020B0603020203020204" pitchFamily="34" charset="77"/>
              </a:rPr>
              <a:t>Prediction</a:t>
            </a:r>
            <a:r>
              <a:rPr lang="fr-FR" sz="3600" b="1" dirty="0">
                <a:solidFill>
                  <a:schemeClr val="bg1"/>
                </a:solidFill>
                <a:latin typeface="PT Sans Caption" panose="020B0603020203020204" pitchFamily="34" charset="77"/>
              </a:rPr>
              <a:t> 📈</a:t>
            </a:r>
          </a:p>
          <a:p>
            <a:pPr marL="571500" indent="-571500" algn="ctr">
              <a:buFont typeface="Arial" panose="020B0604020202020204" pitchFamily="34" charset="0"/>
              <a:buChar char="•"/>
            </a:pPr>
            <a:r>
              <a:rPr lang="fr-FR" sz="3600" b="1" dirty="0">
                <a:solidFill>
                  <a:schemeClr val="bg1"/>
                </a:solidFill>
                <a:latin typeface="PT Sans Caption" panose="020B0603020203020204" pitchFamily="34" charset="77"/>
              </a:rPr>
              <a:t>Uber Pickups 🚕</a:t>
            </a:r>
          </a:p>
        </p:txBody>
      </p:sp>
    </p:spTree>
    <p:extLst>
      <p:ext uri="{BB962C8B-B14F-4D97-AF65-F5344CB8AC3E}">
        <p14:creationId xmlns:p14="http://schemas.microsoft.com/office/powerpoint/2010/main" val="4262191117"/>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9313</TotalTime>
  <Words>2804</Words>
  <Application>Microsoft Macintosh PowerPoint</Application>
  <PresentationFormat>Grand écran</PresentationFormat>
  <Paragraphs>271</Paragraphs>
  <Slides>28</Slides>
  <Notes>27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28</vt:i4>
      </vt:variant>
    </vt:vector>
  </HeadingPairs>
  <TitlesOfParts>
    <vt:vector size="34" baseType="lpstr">
      <vt:lpstr>Arial</vt:lpstr>
      <vt:lpstr>Calibri</vt:lpstr>
      <vt:lpstr>Calibri Light</vt:lpstr>
      <vt:lpstr>PT Sans Caption</vt:lpstr>
      <vt:lpstr>Wingdings</vt:lpstr>
      <vt:lpstr>Thème Office</vt:lpstr>
      <vt:lpstr>Data Analysis Full Stack</vt:lpstr>
      <vt:lpstr>Machine Learning Projects What you will learn with this course </vt:lpstr>
      <vt:lpstr>Machine Learning Projects What you will learn with this course </vt:lpstr>
      <vt:lpstr>Machine Learning Projects Projects overview</vt:lpstr>
      <vt:lpstr>Machine Learning Projects Projects overview</vt:lpstr>
      <vt:lpstr>Machine Learning Projects Projects overview</vt:lpstr>
      <vt:lpstr>Machine Learning Projects Walmart Predict Weekly Sales 🛒</vt:lpstr>
      <vt:lpstr>Machine Learning Projects Walmart Predict Weekly Sales 🛒</vt:lpstr>
      <vt:lpstr>Machine Learning Projects Walmart Predict Weekly Sales 🛒</vt:lpstr>
      <vt:lpstr>Machine Learning Projects Walmart Predict Weekly Sales 🛒</vt:lpstr>
      <vt:lpstr>Machine Learning Projects Walmart Predict Weekly Sales 🛒</vt:lpstr>
      <vt:lpstr>Machine Learning Projects Walmart Predict Weekly Sales 🛒</vt:lpstr>
      <vt:lpstr>Machine Learning Projects Walmart Predict Weekly Sales 🛒</vt:lpstr>
      <vt:lpstr>Machine Learning Projects Walmart Predict Weekly Sales 🛒</vt:lpstr>
      <vt:lpstr>Machine Learning Projects Walmart Predict Weekly Sales 🛒</vt:lpstr>
      <vt:lpstr>Machine Learning Projects Walmart Predict Weekly Sales 🛒</vt:lpstr>
      <vt:lpstr>Machine Learning Projects Conversion Rate Prediction 📈</vt:lpstr>
      <vt:lpstr>Machine Learning Projects Conversion Rate Prediction 📈</vt:lpstr>
      <vt:lpstr>Machine Learning Projects Conversion Rate Prediction 📈</vt:lpstr>
      <vt:lpstr>Machine Learning Projects Conversion Rate Prediction 📈</vt:lpstr>
      <vt:lpstr>Machine Learning Projects Conversion Rate Prediction 📈</vt:lpstr>
      <vt:lpstr>Machine Learning Projects Uber Pickups 🚕</vt:lpstr>
      <vt:lpstr>Machine Learning Projects Uber Pickups 🚕</vt:lpstr>
      <vt:lpstr>Machine Learning Projects Uber Pickups 🚕</vt:lpstr>
      <vt:lpstr>Machine Learning Projects Uber Pickups 🚕</vt:lpstr>
      <vt:lpstr>Machine Learning Projects Uber Pickups 🚕</vt:lpstr>
      <vt:lpstr>Machine Learning Projects Uber Pickups 🚕</vt:lpstr>
      <vt:lpstr>Afternoon 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Alia Boudehane</dc:creator>
  <cp:lastModifiedBy>Alia Boudehane</cp:lastModifiedBy>
  <cp:revision>46</cp:revision>
  <dcterms:created xsi:type="dcterms:W3CDTF">2025-05-14T09:14:25Z</dcterms:created>
  <dcterms:modified xsi:type="dcterms:W3CDTF">2026-02-02T08:19:46Z</dcterms:modified>
</cp:coreProperties>
</file>